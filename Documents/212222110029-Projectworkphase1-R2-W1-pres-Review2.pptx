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3" r:id="rId24"/>
    <p:sldId id="285" r:id="rId25"/>
    <p:sldId id="286" r:id="rId26"/>
    <p:sldId id="287" r:id="rId27"/>
    <p:sldId id="288" r:id="rId28"/>
    <p:sldId id="289" r:id="rId29"/>
    <p:sldId id="290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48DF8F-920E-4208-BB8D-BB94EDD709D4}">
  <a:tblStyle styleId="{BB48DF8F-920E-4208-BB8D-BB94EDD709D4}" styleName="Table_0"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94" y="-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708025"/>
            <a:ext cx="4535488" cy="34020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915294" y="4343703"/>
            <a:ext cx="5027414" cy="409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75" tIns="44825" rIns="89675" bIns="44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68" name="Google Shape;26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/>
        </p:nvSpPr>
        <p:spPr>
          <a:xfrm>
            <a:off x="1371600" y="6687979"/>
            <a:ext cx="59848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SEC-  DEPARTMENT OF CSE(IOT)– 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- 1 –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PROJECTWORKPHASE1</a:t>
            </a: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slide# -</a:t>
            </a: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457200" y="274638"/>
            <a:ext cx="8229600" cy="584200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457200" y="1027113"/>
            <a:ext cx="8229600" cy="540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2" descr="C:\Users\ELCOT\Desktop\Saveetha Logo.png"/>
          <p:cNvPicPr preferRelativeResize="0"/>
          <p:nvPr/>
        </p:nvPicPr>
        <p:blipFill rotWithShape="1">
          <a:blip r:embed="rId2">
            <a:alphaModFix/>
          </a:blip>
          <a:srcRect r="26619" b="28149"/>
          <a:stretch/>
        </p:blipFill>
        <p:spPr>
          <a:xfrm>
            <a:off x="6588225" y="2899"/>
            <a:ext cx="2570075" cy="2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88442841_Integrated_Smart_Dam_Control_System_Using_Machine_Learning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Projectworkphase1</a:t>
            </a: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(19AI70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– Review2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28600" y="990600"/>
            <a:ext cx="8610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>
              <a:buSzPct val="100000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Dam Monitoring System using </a:t>
            </a:r>
            <a:r>
              <a:rPr lang="en-US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Machine Learning, and Computer Vision</a:t>
            </a:r>
            <a:br>
              <a:rPr lang="en-US" sz="3200" b="0" i="0" u="none" strike="noStrike" cap="none" dirty="0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SzPct val="100000"/>
            </a:pPr>
            <a:r>
              <a:rPr lang="en-IN" sz="2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Naveen M (212222110029)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2022-2026 Batch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TEAM NO: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of: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SzPct val="100000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S.Sellakumar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buSzPct val="1000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 Department of Mechanical Engineering (SCOFT)</a:t>
            </a:r>
          </a:p>
          <a:p>
            <a:pPr lvl="0" algn="ctr">
              <a:buSzPct val="100000"/>
            </a:pP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-304800" y="5486400"/>
            <a:ext cx="9829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3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ENGINEERING(IOT)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5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SAVEETHA ENGINEERING COLLEGE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(Autonomous Institution – UGC, Govt. of India)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(Affiliated to Anna University, Approved by AICTE - Accredited by NBA &amp; NAAC – ‘A’ Grade - ISO 9001:2015 Certified)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Saveetha Nagar, Thandalam, Chennai-602 105, TamilNadu, INDIA.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01294" algn="l" rtl="0">
              <a:lnSpc>
                <a:spcPct val="100000"/>
              </a:lnSpc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1000" y="5105400"/>
            <a:ext cx="68580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-370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Introduction</a:t>
            </a:r>
            <a:endParaRPr dirty="0"/>
          </a:p>
          <a:p>
            <a:pPr marL="457200" lvl="0" indent="-370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Statement of the Problem</a:t>
            </a:r>
            <a:endParaRPr dirty="0"/>
          </a:p>
          <a:p>
            <a:pPr lvl="1" indent="-353060">
              <a:spcBef>
                <a:spcPts val="0"/>
              </a:spcBef>
              <a:buSzPct val="100000"/>
              <a:buAutoNum type="alphaLcPeriod"/>
            </a:pPr>
            <a:r>
              <a:rPr lang="en-US" dirty="0"/>
              <a:t>Absence of a smart, automated, and connected system</a:t>
            </a:r>
            <a:endParaRPr dirty="0"/>
          </a:p>
          <a:p>
            <a:pPr marL="457200" lvl="0" indent="-370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Scope of the project</a:t>
            </a:r>
            <a:endParaRPr dirty="0"/>
          </a:p>
          <a:p>
            <a:pPr marL="457200" lvl="0" indent="-370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Methodology </a:t>
            </a:r>
            <a:endParaRPr dirty="0"/>
          </a:p>
          <a:p>
            <a:pPr marL="914400" lvl="1" indent="-3530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dirty="0"/>
              <a:t>Architectural Diagram</a:t>
            </a:r>
            <a:endParaRPr dirty="0"/>
          </a:p>
          <a:p>
            <a:pPr marL="914400" lvl="1" indent="-3530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dirty="0"/>
              <a:t>Flow</a:t>
            </a:r>
            <a:endParaRPr dirty="0"/>
          </a:p>
          <a:p>
            <a:pPr marL="914400" lvl="1" indent="-3530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dirty="0"/>
              <a:t>Algorithm used</a:t>
            </a:r>
            <a:endParaRPr dirty="0"/>
          </a:p>
          <a:p>
            <a:pPr marL="914400" lvl="1" indent="-3530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dirty="0"/>
              <a:t>Design - Use Case Diagram, Class Diagram</a:t>
            </a:r>
            <a:endParaRPr dirty="0"/>
          </a:p>
          <a:p>
            <a:pPr marL="914400" lvl="1" indent="-3530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dirty="0"/>
              <a:t>Implementation</a:t>
            </a:r>
            <a:endParaRPr dirty="0"/>
          </a:p>
          <a:p>
            <a:pPr marL="914400" lvl="1" indent="-3530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dirty="0"/>
              <a:t>Important code segments</a:t>
            </a:r>
            <a:endParaRPr dirty="0"/>
          </a:p>
          <a:p>
            <a:pPr marL="457200" lvl="0" indent="-370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Output, Results</a:t>
            </a:r>
            <a:endParaRPr dirty="0"/>
          </a:p>
          <a:p>
            <a:pPr marL="457200" lvl="0" indent="-370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Test Cases</a:t>
            </a:r>
            <a:endParaRPr dirty="0"/>
          </a:p>
          <a:p>
            <a:pPr marL="457200" lvl="0" indent="-370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Conclusions</a:t>
            </a:r>
            <a:endParaRPr dirty="0"/>
          </a:p>
          <a:p>
            <a:pPr marL="457200" lvl="0" indent="-370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Future work</a:t>
            </a:r>
            <a:endParaRPr dirty="0"/>
          </a:p>
          <a:p>
            <a:pPr marL="457200" lvl="0" indent="-370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References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US" sz="2600" b="1" dirty="0"/>
              <a:t>Project Overview:</a:t>
            </a:r>
            <a:r>
              <a:rPr lang="en-US" sz="2600" dirty="0"/>
              <a:t> The system is an intelligent and automated solution to enhance dam safety, operational efficiency, and public awareness</a:t>
            </a:r>
            <a:r>
              <a:rPr lang="en-US" sz="2800" dirty="0"/>
              <a:t>.</a:t>
            </a:r>
          </a:p>
          <a:p>
            <a:r>
              <a:rPr lang="en-US" sz="2600" dirty="0"/>
              <a:t>It integrates </a:t>
            </a:r>
            <a:r>
              <a:rPr lang="en-US" sz="2600" b="1" dirty="0"/>
              <a:t>Internet of Things (</a:t>
            </a:r>
            <a:r>
              <a:rPr lang="en-US" sz="2600" b="1" dirty="0" err="1"/>
              <a:t>IoT</a:t>
            </a:r>
            <a:r>
              <a:rPr lang="en-US" sz="2600" b="1" dirty="0"/>
              <a:t>)</a:t>
            </a:r>
            <a:r>
              <a:rPr lang="en-US" sz="2600" dirty="0"/>
              <a:t>, </a:t>
            </a:r>
            <a:r>
              <a:rPr lang="en-US" sz="2600" b="1" dirty="0"/>
              <a:t>Machine Learning (ML)</a:t>
            </a:r>
            <a:r>
              <a:rPr lang="en-US" sz="2600" dirty="0"/>
              <a:t>, and </a:t>
            </a:r>
            <a:r>
              <a:rPr lang="en-US" sz="2600" b="1" dirty="0"/>
              <a:t>Computer Vision (CV)</a:t>
            </a:r>
            <a:r>
              <a:rPr lang="en-US" sz="2600" dirty="0"/>
              <a:t>.</a:t>
            </a:r>
          </a:p>
          <a:p>
            <a:r>
              <a:rPr lang="en-US" sz="2800" b="1" dirty="0"/>
              <a:t>The Problem:</a:t>
            </a:r>
            <a:r>
              <a:rPr lang="en-US" sz="2800" dirty="0"/>
              <a:t> </a:t>
            </a:r>
            <a:r>
              <a:rPr lang="en-US" sz="2600" dirty="0"/>
              <a:t>Traditional dam management relies on </a:t>
            </a:r>
            <a:r>
              <a:rPr lang="en-US" sz="2600" b="1" dirty="0"/>
              <a:t>manual monitoring</a:t>
            </a:r>
            <a:r>
              <a:rPr lang="en-US" sz="2600" dirty="0"/>
              <a:t> and </a:t>
            </a:r>
            <a:r>
              <a:rPr lang="en-US" sz="2600" b="1" dirty="0"/>
              <a:t>periodic inspections</a:t>
            </a:r>
            <a:r>
              <a:rPr lang="en-US" sz="2600" dirty="0"/>
              <a:t>, leading to a reactive approach and a significant delay between a critical event and human response</a:t>
            </a:r>
            <a:r>
              <a:rPr lang="en-US" sz="2800" dirty="0"/>
              <a:t>.</a:t>
            </a:r>
          </a:p>
          <a:p>
            <a:r>
              <a:rPr lang="en-US" sz="2800" b="1" dirty="0"/>
              <a:t>The Goal:</a:t>
            </a:r>
            <a:r>
              <a:rPr lang="en-US" sz="2800" dirty="0"/>
              <a:t> </a:t>
            </a:r>
            <a:r>
              <a:rPr lang="en-US" sz="2600" dirty="0"/>
              <a:t>To transform the conventional dam into a </a:t>
            </a:r>
            <a:r>
              <a:rPr lang="en-US" sz="2600" b="1" dirty="0"/>
              <a:t>smart, predictive, and responsive infrastructure</a:t>
            </a:r>
            <a:r>
              <a:rPr lang="en-US" sz="2600" dirty="0"/>
              <a:t> capable of real-time monitoring and early risk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Statement of the Problem</a:t>
            </a:r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342900">
              <a:spcBef>
                <a:spcPts val="518"/>
              </a:spcBef>
            </a:pPr>
            <a:r>
              <a:rPr lang="en-US" sz="3400" b="1" dirty="0"/>
              <a:t>Lag in Response:</a:t>
            </a:r>
            <a:r>
              <a:rPr lang="en-US" sz="3400" dirty="0"/>
              <a:t> </a:t>
            </a:r>
            <a:r>
              <a:rPr lang="en-US" sz="3100" dirty="0"/>
              <a:t>The reactive, manual approach creates a </a:t>
            </a:r>
            <a:r>
              <a:rPr lang="en-US" sz="3100" b="1" dirty="0"/>
              <a:t>significant lag</a:t>
            </a:r>
            <a:r>
              <a:rPr lang="en-US" sz="3100" dirty="0"/>
              <a:t> between data collection and actionable decisions, making the system vulnerable to sudden environmental changes.</a:t>
            </a:r>
          </a:p>
          <a:p>
            <a:pPr marL="342900" lvl="0" indent="-342900">
              <a:spcBef>
                <a:spcPts val="518"/>
              </a:spcBef>
            </a:pPr>
            <a:r>
              <a:rPr lang="en-US" sz="3400" b="1" dirty="0"/>
              <a:t>Fragmentation:</a:t>
            </a:r>
            <a:r>
              <a:rPr lang="en-US" sz="3400" dirty="0"/>
              <a:t> </a:t>
            </a:r>
            <a:r>
              <a:rPr lang="en-US" sz="3100" dirty="0"/>
              <a:t>Solutions are often </a:t>
            </a:r>
            <a:r>
              <a:rPr lang="en-US" sz="3100" dirty="0" err="1"/>
              <a:t>siloed</a:t>
            </a:r>
            <a:r>
              <a:rPr lang="en-US" sz="3100" dirty="0"/>
              <a:t>, focusing only on water level </a:t>
            </a:r>
            <a:r>
              <a:rPr lang="en-US" sz="3100" i="1" dirty="0"/>
              <a:t>or</a:t>
            </a:r>
            <a:r>
              <a:rPr lang="en-US" sz="3100" dirty="0"/>
              <a:t> crack detection, but not a </a:t>
            </a:r>
            <a:r>
              <a:rPr lang="en-US" sz="3100" b="1" dirty="0"/>
              <a:t>unified operational picture</a:t>
            </a:r>
            <a:r>
              <a:rPr lang="en-US" sz="3100" dirty="0"/>
              <a:t>.</a:t>
            </a:r>
          </a:p>
          <a:p>
            <a:pPr marL="342900" lvl="0" indent="-342900">
              <a:spcBef>
                <a:spcPts val="518"/>
              </a:spcBef>
            </a:pPr>
            <a:r>
              <a:rPr lang="en-US" sz="3400" b="1" dirty="0"/>
              <a:t>Critical Safety Gap:</a:t>
            </a:r>
            <a:r>
              <a:rPr lang="en-US" sz="3400" dirty="0"/>
              <a:t> </a:t>
            </a:r>
            <a:r>
              <a:rPr lang="en-US" sz="3100" dirty="0"/>
              <a:t>There is no proper </a:t>
            </a:r>
            <a:r>
              <a:rPr lang="en-US" sz="3100" b="1" dirty="0"/>
              <a:t>automated mechanism</a:t>
            </a:r>
            <a:r>
              <a:rPr lang="en-US" sz="3100" dirty="0"/>
              <a:t> to detect the presence of </a:t>
            </a:r>
            <a:r>
              <a:rPr lang="en-US" sz="3100" b="1" dirty="0"/>
              <a:t>humans or animals</a:t>
            </a:r>
            <a:r>
              <a:rPr lang="en-US" sz="3100" dirty="0"/>
              <a:t> in the downstream riverbed before water release, which is prone to human error.</a:t>
            </a:r>
          </a:p>
          <a:p>
            <a:pPr marL="342900" lvl="0" indent="-342900">
              <a:spcBef>
                <a:spcPts val="518"/>
              </a:spcBef>
            </a:pPr>
            <a:r>
              <a:rPr lang="en-US" sz="3400" b="1" dirty="0"/>
              <a:t>Objective:</a:t>
            </a:r>
            <a:r>
              <a:rPr lang="en-US" dirty="0"/>
              <a:t> </a:t>
            </a:r>
            <a:r>
              <a:rPr lang="en-US" sz="3400" dirty="0"/>
              <a:t>Develop an </a:t>
            </a:r>
            <a:r>
              <a:rPr lang="en-US" sz="3400" b="1" dirty="0"/>
              <a:t>intelligent, sensor-based, automated solution</a:t>
            </a:r>
            <a:r>
              <a:rPr lang="en-US" sz="3400" dirty="0"/>
              <a:t> with predictive capabilities and integrated safety checks for real-time, reliable, and safe dam management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Scope of the project</a:t>
            </a:r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5240" indent="0">
              <a:spcBef>
                <a:spcPts val="518"/>
              </a:spcBef>
              <a:buSzPct val="114285"/>
              <a:buNone/>
            </a:pPr>
            <a:r>
              <a:rPr lang="en-US" sz="2400" b="1" dirty="0"/>
              <a:t>Smart Dam Monitoring System</a:t>
            </a:r>
          </a:p>
          <a:p>
            <a:pPr marL="15240" indent="0">
              <a:spcBef>
                <a:spcPts val="518"/>
              </a:spcBef>
              <a:buSzPct val="114285"/>
              <a:buNone/>
            </a:pPr>
            <a:r>
              <a:rPr lang="en-US" sz="2400" b="1" dirty="0"/>
              <a:t>Scope:</a:t>
            </a:r>
          </a:p>
          <a:p>
            <a:pPr marL="358140" indent="-342900">
              <a:spcBef>
                <a:spcPts val="518"/>
              </a:spcBef>
              <a:buSzPct val="114285"/>
            </a:pPr>
            <a:r>
              <a:rPr lang="en-US" sz="2400" dirty="0"/>
              <a:t>Focus on designing and implementing a low-cost prototype using the ESP32 microcontroller.</a:t>
            </a:r>
          </a:p>
          <a:p>
            <a:pPr marL="358140" indent="-342900">
              <a:spcBef>
                <a:spcPts val="518"/>
              </a:spcBef>
              <a:buSzPct val="114285"/>
            </a:pPr>
            <a:r>
              <a:rPr lang="en-US" sz="2400" dirty="0"/>
              <a:t>Develop an integrated system combining </a:t>
            </a:r>
            <a:r>
              <a:rPr lang="en-US" sz="2400" dirty="0" err="1"/>
              <a:t>IoT</a:t>
            </a:r>
            <a:r>
              <a:rPr lang="en-US" sz="2400" dirty="0"/>
              <a:t> sensing, an ML prediction model, and a CV safety module.</a:t>
            </a:r>
          </a:p>
          <a:p>
            <a:pPr marL="358140" indent="-342900">
              <a:spcBef>
                <a:spcPts val="518"/>
              </a:spcBef>
              <a:buSzPct val="114285"/>
            </a:pPr>
            <a:r>
              <a:rPr lang="en-US" sz="2400" dirty="0"/>
              <a:t>Ensure the system provides real-time monitoring and early warning alerts to prevent large-scale disasters.</a:t>
            </a:r>
            <a:endParaRPr lang="en-US" sz="2400" b="1" dirty="0"/>
          </a:p>
          <a:p>
            <a:pPr marL="15240" indent="0">
              <a:spcBef>
                <a:spcPts val="518"/>
              </a:spcBef>
              <a:buSzPct val="114285"/>
              <a:buNone/>
            </a:pPr>
            <a:r>
              <a:rPr lang="en-US" sz="2400" b="1" dirty="0"/>
              <a:t>Target Audience: </a:t>
            </a:r>
            <a:r>
              <a:rPr lang="en-US" sz="2400" dirty="0"/>
              <a:t>Dam operators/authorities and the general public.</a:t>
            </a:r>
          </a:p>
          <a:p>
            <a:pPr marL="15240" indent="0">
              <a:spcBef>
                <a:spcPts val="518"/>
              </a:spcBef>
              <a:buSzPct val="114285"/>
              <a:buNone/>
            </a:pPr>
            <a:r>
              <a:rPr lang="en-IN" sz="2400" b="1" dirty="0"/>
              <a:t>Deliverables:</a:t>
            </a:r>
            <a:endParaRPr lang="en-US" sz="2400" dirty="0"/>
          </a:p>
          <a:p>
            <a:pPr marL="358140" indent="-342900">
              <a:spcBef>
                <a:spcPts val="518"/>
              </a:spcBef>
              <a:buSzPct val="114285"/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functional hardware prototype</a:t>
            </a:r>
            <a:r>
              <a:rPr lang="en-US" sz="2400" dirty="0"/>
              <a:t> of the Smart Dam Monitoring System.</a:t>
            </a:r>
          </a:p>
          <a:p>
            <a:pPr marL="358140" indent="-342900">
              <a:spcBef>
                <a:spcPts val="518"/>
              </a:spcBef>
              <a:buSzPct val="114285"/>
              <a:buFont typeface="Arial" panose="020B0604020202020204" pitchFamily="34" charset="0"/>
              <a:buChar char="•"/>
            </a:pPr>
            <a:r>
              <a:rPr lang="en-US" sz="2400" dirty="0"/>
              <a:t>A trained and validated ML rainfall prediction model (with accuracy &gt;= 85%)</a:t>
            </a:r>
          </a:p>
          <a:p>
            <a:pPr marL="15240" indent="0">
              <a:spcBef>
                <a:spcPts val="518"/>
              </a:spcBef>
              <a:buSzPct val="114285"/>
              <a:buNone/>
            </a:pPr>
            <a:endParaRPr lang="en-I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Scope of the project</a:t>
            </a:r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15240" indent="0">
              <a:spcBef>
                <a:spcPts val="518"/>
              </a:spcBef>
              <a:buSzPct val="114285"/>
              <a:buNone/>
            </a:pPr>
            <a:r>
              <a:rPr lang="en-US" sz="2800" b="1" dirty="0"/>
              <a:t>Inclusions (End-to-End Functionality): </a:t>
            </a:r>
          </a:p>
          <a:p>
            <a:pPr marL="472440" indent="-457200">
              <a:spcBef>
                <a:spcPts val="518"/>
              </a:spcBef>
              <a:buSzPct val="114285"/>
            </a:pPr>
            <a:r>
              <a:rPr lang="en-US" sz="2800" b="1" dirty="0"/>
              <a:t>Multi-Sensor Integration: </a:t>
            </a:r>
            <a:r>
              <a:rPr lang="en-US" sz="2800" dirty="0"/>
              <a:t>Water level (Ultrasonic), Temperature/Humidity (DHT11), Vibration, and Location (GPS). </a:t>
            </a:r>
          </a:p>
          <a:p>
            <a:pPr marL="472440" indent="-457200">
              <a:spcBef>
                <a:spcPts val="518"/>
              </a:spcBef>
              <a:buSzPct val="114285"/>
            </a:pPr>
            <a:r>
              <a:rPr lang="en-US" sz="2800" b="1" dirty="0"/>
              <a:t>Predictive Model: </a:t>
            </a:r>
            <a:r>
              <a:rPr lang="en-US" sz="2800" dirty="0"/>
              <a:t>Locally trained ML model to predict the likelihood of rainfall.</a:t>
            </a:r>
          </a:p>
          <a:p>
            <a:pPr marL="472440" indent="-457200">
              <a:spcBef>
                <a:spcPts val="518"/>
              </a:spcBef>
              <a:buSzPct val="114285"/>
            </a:pPr>
            <a:r>
              <a:rPr lang="en-US" sz="2800" dirty="0"/>
              <a:t> </a:t>
            </a:r>
            <a:r>
              <a:rPr lang="en-US" sz="2800" b="1" dirty="0"/>
              <a:t>Safety System: </a:t>
            </a:r>
            <a:r>
              <a:rPr lang="en-US" sz="2800" dirty="0"/>
              <a:t>Computer Vision to automatically detect humans or animals in the hazardous river path.</a:t>
            </a:r>
          </a:p>
          <a:p>
            <a:pPr marL="472440" indent="-457200">
              <a:spcBef>
                <a:spcPts val="518"/>
              </a:spcBef>
              <a:buSzPct val="114285"/>
            </a:pPr>
            <a:r>
              <a:rPr lang="en-US" sz="2800" b="1" dirty="0"/>
              <a:t>Control &amp; Alerts: </a:t>
            </a:r>
            <a:r>
              <a:rPr lang="en-US" sz="2800" dirty="0"/>
              <a:t>Automate critical operations like controlling a valve (servo motor) and providing immediate local alerts (buzzer) and remote warnings.</a:t>
            </a:r>
          </a:p>
          <a:p>
            <a:pPr marL="472440" indent="-457200">
              <a:spcBef>
                <a:spcPts val="518"/>
              </a:spcBef>
              <a:buSzPct val="114285"/>
            </a:pPr>
            <a:r>
              <a:rPr lang="en-US" sz="2800" b="1" dirty="0"/>
              <a:t> Dashboard: </a:t>
            </a:r>
            <a:r>
              <a:rPr lang="en-US" sz="2800" dirty="0"/>
              <a:t>Web-based interface for data visualization and transparency.</a:t>
            </a:r>
          </a:p>
          <a:p>
            <a:pPr marL="15240" indent="0">
              <a:spcBef>
                <a:spcPts val="518"/>
              </a:spcBef>
              <a:buSzPct val="114285"/>
              <a:buNone/>
            </a:pPr>
            <a:r>
              <a:rPr lang="en-US" sz="2800" b="1" dirty="0"/>
              <a:t>Platform: </a:t>
            </a:r>
            <a:r>
              <a:rPr lang="en-US" sz="2800" dirty="0"/>
              <a:t>Uses ESP32 as the core microcontroller and Firebase for cloud data management.</a:t>
            </a:r>
            <a:r>
              <a:rPr lang="en-IN" sz="2800" dirty="0"/>
              <a:t>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Scope of the project</a:t>
            </a:r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r>
              <a:rPr lang="en-IN" sz="2800" b="1" dirty="0"/>
              <a:t>Smart Dam Monitoring System</a:t>
            </a:r>
            <a:endParaRPr lang="en-IN" sz="2800" dirty="0"/>
          </a:p>
          <a:p>
            <a:pPr marL="483870" lvl="1" indent="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100000"/>
              <a:buNone/>
            </a:pPr>
            <a:r>
              <a:rPr lang="en-US" b="1" dirty="0"/>
              <a:t>Data</a:t>
            </a:r>
            <a:r>
              <a:rPr lang="en-US" dirty="0"/>
              <a:t>:</a:t>
            </a:r>
            <a:endParaRPr dirty="0"/>
          </a:p>
          <a:p>
            <a:pPr marL="742950" lvl="1" indent="-259080">
              <a:spcBef>
                <a:spcPts val="518"/>
              </a:spcBef>
              <a:buSzPct val="100000"/>
            </a:pPr>
            <a:r>
              <a:rPr lang="en-US" b="1" dirty="0"/>
              <a:t>Real-time Sensor Data:</a:t>
            </a:r>
            <a:r>
              <a:rPr lang="en-US" dirty="0"/>
              <a:t> The system will collect continuous, real-time data from the </a:t>
            </a:r>
            <a:r>
              <a:rPr lang="en-US" b="1" dirty="0"/>
              <a:t>Ultrasonic sensor</a:t>
            </a:r>
            <a:r>
              <a:rPr lang="en-US" dirty="0"/>
              <a:t> (water level), </a:t>
            </a:r>
            <a:r>
              <a:rPr lang="en-US" b="1" dirty="0"/>
              <a:t>DHT11 sensor</a:t>
            </a:r>
            <a:r>
              <a:rPr lang="en-US" dirty="0"/>
              <a:t> (temperature/humidity), and </a:t>
            </a:r>
            <a:r>
              <a:rPr lang="en-US" b="1" dirty="0"/>
              <a:t>Vibration sensor</a:t>
            </a:r>
            <a:r>
              <a:rPr lang="en-US" dirty="0"/>
              <a:t> (structural stability). </a:t>
            </a:r>
          </a:p>
          <a:p>
            <a:pPr marL="742950" lvl="1" indent="-259080">
              <a:spcBef>
                <a:spcPts val="518"/>
              </a:spcBef>
              <a:buSzPct val="100000"/>
            </a:pPr>
            <a:r>
              <a:rPr lang="en-US" b="1" dirty="0"/>
              <a:t>Video/Image Streams:</a:t>
            </a:r>
            <a:r>
              <a:rPr lang="en-US" dirty="0"/>
              <a:t> Capture video frames or images from cameras positioned along the river path for </a:t>
            </a:r>
            <a:r>
              <a:rPr lang="en-US" b="1" dirty="0"/>
              <a:t>Computer Vision analysis</a:t>
            </a:r>
            <a:r>
              <a:rPr lang="en-US" dirty="0"/>
              <a:t>. </a:t>
            </a:r>
          </a:p>
          <a:p>
            <a:pPr marL="483870" lvl="1" indent="0">
              <a:spcBef>
                <a:spcPts val="518"/>
              </a:spcBef>
              <a:buSzPct val="100000"/>
              <a:buNone/>
            </a:pPr>
            <a:r>
              <a:rPr lang="en-US" b="1" dirty="0"/>
              <a:t>Limitations</a:t>
            </a:r>
            <a:r>
              <a:rPr lang="en-US" dirty="0"/>
              <a:t>: Resource constraints of the low-cost hardware, and the high environmental sensitivity of the Computer Vision component.</a:t>
            </a:r>
            <a:endParaRPr dirty="0"/>
          </a:p>
          <a:p>
            <a:pPr marL="742950" lvl="1" indent="-259080">
              <a:spcBef>
                <a:spcPts val="518"/>
              </a:spcBef>
              <a:buSzPct val="100000"/>
            </a:pPr>
            <a:r>
              <a:rPr lang="en-US" dirty="0"/>
              <a:t>Model Generalizability: The ML model's performance may vary significantly if the real-world environmental conditions diverge greatly from the training dataset, necessitating potential calibration.</a:t>
            </a:r>
            <a:endParaRPr dirty="0"/>
          </a:p>
          <a:p>
            <a:pPr marL="742950" lvl="1" indent="-259080">
              <a:spcBef>
                <a:spcPts val="518"/>
              </a:spcBef>
              <a:buSzPct val="100000"/>
            </a:pPr>
            <a:r>
              <a:rPr lang="en-US" dirty="0"/>
              <a:t>Environmental Sensitivity (CV): The performance of the Computer Vision system is highly dependent on factors like variable lighting, shadows, fog, and heavy rain, which can impact detection accuracy.</a:t>
            </a:r>
          </a:p>
          <a:p>
            <a:pPr marL="742950" lvl="1" indent="-259080">
              <a:spcBef>
                <a:spcPts val="518"/>
              </a:spcBef>
              <a:buSzPct val="100000"/>
            </a:pPr>
            <a:r>
              <a:rPr lang="en-US" dirty="0"/>
              <a:t>Structural Monitoring: The use of only a basic vibration sensor provides an initial indicator but does not offer the subtle, internal deviation detection capabilities of expensive </a:t>
            </a:r>
            <a:r>
              <a:rPr lang="en-US" b="1" dirty="0"/>
              <a:t>geotechnical sensors</a:t>
            </a:r>
            <a:r>
              <a:rPr lang="en-US" dirty="0"/>
              <a:t> (like piezometers)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Methodology</a:t>
            </a: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27766">
              <a:lnSpc>
                <a:spcPct val="90000"/>
              </a:lnSpc>
              <a:spcBef>
                <a:spcPts val="1000"/>
              </a:spcBef>
              <a:buSzPct val="168421"/>
            </a:pPr>
            <a:r>
              <a:rPr lang="en-IN" sz="2400" dirty="0"/>
              <a:t>Sensing &amp; Edge Processing: The ESP32 collects data from the Ultrasonic, DHT11, Vibration, and GPS sensors.</a:t>
            </a:r>
          </a:p>
          <a:p>
            <a:pPr marL="342900" lvl="0" indent="-327766">
              <a:lnSpc>
                <a:spcPct val="90000"/>
              </a:lnSpc>
              <a:spcBef>
                <a:spcPts val="1000"/>
              </a:spcBef>
              <a:buSzPct val="168421"/>
            </a:pPr>
            <a:r>
              <a:rPr lang="en-IN" sz="2400" dirty="0" err="1"/>
              <a:t>IoT</a:t>
            </a:r>
            <a:r>
              <a:rPr lang="en-IN" sz="2400" dirty="0"/>
              <a:t> Gateway: ESP32 transmits this data to the Firebase </a:t>
            </a:r>
            <a:r>
              <a:rPr lang="en-IN" sz="2400" dirty="0" err="1"/>
              <a:t>Realtime</a:t>
            </a:r>
            <a:r>
              <a:rPr lang="en-IN" sz="2400" dirty="0"/>
              <a:t> Database.</a:t>
            </a:r>
          </a:p>
          <a:p>
            <a:pPr marL="342900" lvl="0" indent="-327766">
              <a:lnSpc>
                <a:spcPct val="90000"/>
              </a:lnSpc>
              <a:spcBef>
                <a:spcPts val="1000"/>
              </a:spcBef>
              <a:buSzPct val="168421"/>
            </a:pPr>
            <a:r>
              <a:rPr lang="en-IN" sz="2400" dirty="0"/>
              <a:t>ML Engine: A Flask-based ML engine retrieves T and H data, runs the rainfall prediction model, and sends the result back to Firebase.</a:t>
            </a:r>
          </a:p>
          <a:p>
            <a:pPr marL="342900" lvl="0" indent="-327766">
              <a:lnSpc>
                <a:spcPct val="90000"/>
              </a:lnSpc>
              <a:spcBef>
                <a:spcPts val="1000"/>
              </a:spcBef>
              <a:buSzPct val="168421"/>
            </a:pPr>
            <a:r>
              <a:rPr lang="en-IN" sz="2400" dirty="0"/>
              <a:t>Computer Vision: Camera video frames are processed using an Object Detection Model (YOLO/</a:t>
            </a:r>
            <a:r>
              <a:rPr lang="en-IN" sz="2400" dirty="0" err="1"/>
              <a:t>TensorFlow</a:t>
            </a:r>
            <a:r>
              <a:rPr lang="en-IN" sz="2400" dirty="0"/>
              <a:t> </a:t>
            </a:r>
            <a:r>
              <a:rPr lang="en-IN" sz="2400" dirty="0" err="1"/>
              <a:t>Lite</a:t>
            </a:r>
            <a:r>
              <a:rPr lang="en-IN" sz="2400" dirty="0"/>
              <a:t>) to detect human or animal presence, sending an alert via Firebase.</a:t>
            </a:r>
          </a:p>
          <a:p>
            <a:pPr marL="342900" lvl="0" indent="-327766">
              <a:lnSpc>
                <a:spcPct val="90000"/>
              </a:lnSpc>
              <a:spcBef>
                <a:spcPts val="1000"/>
              </a:spcBef>
              <a:buSzPct val="168421"/>
            </a:pPr>
            <a:r>
              <a:rPr lang="en-IN" sz="2400" dirty="0"/>
              <a:t>Actuation &amp; Alerts: The ESP32 triggers the Buzzer (local alert) and Servo Motor (simulating a valve/gate) based on water level and vibration or safety alerts.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Methodology</a:t>
            </a:r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25400" indent="0">
              <a:buNone/>
            </a:pPr>
            <a:r>
              <a:rPr lang="en-US" sz="3800" b="1" dirty="0"/>
              <a:t>Data Collection and Sensing includes:</a:t>
            </a:r>
          </a:p>
          <a:p>
            <a:r>
              <a:rPr lang="en-US" dirty="0"/>
              <a:t>Deploying the ESP32 as the core edge controller.</a:t>
            </a:r>
          </a:p>
          <a:p>
            <a:r>
              <a:rPr lang="en-US" dirty="0"/>
              <a:t>Interfacing and configuring the multi-sensor suite (Ultrasonic, DHT11, Vibration, GPS).</a:t>
            </a:r>
          </a:p>
          <a:p>
            <a:r>
              <a:rPr lang="en-US" dirty="0"/>
              <a:t>Capturing real-time readings for water level, temperature, humidity, and structural vibration.</a:t>
            </a:r>
          </a:p>
          <a:p>
            <a:r>
              <a:rPr lang="en-US" dirty="0"/>
              <a:t>Transmitting the raw sensor data to the Firebase </a:t>
            </a:r>
            <a:r>
              <a:rPr lang="en-US" dirty="0" err="1"/>
              <a:t>Realtime</a:t>
            </a:r>
            <a:r>
              <a:rPr lang="en-US" dirty="0"/>
              <a:t> Database via Wi-Fi.</a:t>
            </a:r>
          </a:p>
          <a:p>
            <a:r>
              <a:rPr lang="en-US" dirty="0"/>
              <a:t>Positioning cameras along the downstream river path for Computer Vision analysis.</a:t>
            </a:r>
          </a:p>
          <a:p>
            <a:pPr marL="25400" indent="0">
              <a:buNone/>
            </a:pPr>
            <a:r>
              <a:rPr lang="en-US" sz="3800" b="1" dirty="0"/>
              <a:t>Data Processing and Intelligence includes:</a:t>
            </a:r>
          </a:p>
          <a:p>
            <a:r>
              <a:rPr lang="en-US" dirty="0"/>
              <a:t>Retrieving live temperature and humidity data from Firebase using the Flask-based ML Engine.</a:t>
            </a:r>
          </a:p>
          <a:p>
            <a:r>
              <a:rPr lang="en-US" dirty="0"/>
              <a:t>Running the pre-trained rainfall prediction model and writing the prediction status back to Firebase.</a:t>
            </a:r>
          </a:p>
          <a:p>
            <a:r>
              <a:rPr lang="en-US" dirty="0"/>
              <a:t>Processing streamed video frames using a lightweight Object Detection model (YOLO) to detect human/animal presence.</a:t>
            </a:r>
          </a:p>
          <a:p>
            <a:r>
              <a:rPr lang="en-US" dirty="0"/>
              <a:t>Implementing logic for automatic gate control based on critical water levels.</a:t>
            </a:r>
          </a:p>
          <a:p>
            <a:r>
              <a:rPr lang="en-US" dirty="0"/>
              <a:t>Developing the comprehensive Web Dashboard to visualize all sensor values, predictions, and alerts in real-time.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319"/>
              <a:buFont typeface="Calibri"/>
              <a:buNone/>
            </a:pPr>
            <a:r>
              <a:rPr lang="en-US" sz="3759" dirty="0"/>
              <a:t>Architecture Diagram/Flow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36" y="1467852"/>
            <a:ext cx="7820527" cy="45856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Design-Use Case Diagram</a:t>
            </a:r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800" dirty="0"/>
              <a:t>UML DIAGRAMS</a:t>
            </a:r>
            <a:endParaRPr sz="28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800" dirty="0"/>
              <a:t> Use case </a:t>
            </a:r>
            <a:r>
              <a:rPr lang="en-US" sz="2800" dirty="0" err="1"/>
              <a:t>Diagram:A</a:t>
            </a:r>
            <a:r>
              <a:rPr lang="en-US" sz="2800" dirty="0"/>
              <a:t> use case diagram is a graph of actors set of use cases  enclosed by a system boundary, communication associations between the actors  and users and generalization among use cases. </a:t>
            </a:r>
            <a:endParaRPr sz="28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800" dirty="0"/>
              <a:t>The use case model defines the  outside (actors) and inside (use case) of the system’s behavior.</a:t>
            </a:r>
            <a:endParaRPr sz="28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800" dirty="0"/>
              <a:t>USER          </a:t>
            </a:r>
            <a:endParaRPr sz="2800" dirty="0"/>
          </a:p>
          <a:p>
            <a:pPr marL="3429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sz="2800" dirty="0"/>
          </a:p>
        </p:txBody>
      </p:sp>
      <p:pic>
        <p:nvPicPr>
          <p:cNvPr id="158" name="Google Shape;15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6500" y="4285900"/>
            <a:ext cx="54864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Design-Use Case Diagram</a:t>
            </a:r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800" dirty="0"/>
              <a:t>UML DIAGRAMS</a:t>
            </a:r>
            <a:endParaRPr sz="2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 sz="2800" dirty="0"/>
          </a:p>
          <a:p>
            <a:pPr marL="3429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49" y="1724297"/>
            <a:ext cx="6792685" cy="48332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Design-Class Diagram</a:t>
            </a:r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800"/>
              <a:t>Class Diagram:A class is a representation of an object and, in many ways; it is simply a template from which objects are created. Classes form the main building blocks of an object-oriented application. </a:t>
            </a:r>
            <a:endParaRPr sz="280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800"/>
              <a:t>Although thousands of students attend the university, you would only model one class, called Student, which would represent the represent the entire collection of students.</a:t>
            </a:r>
            <a:endParaRPr sz="280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endParaRPr sz="2800"/>
          </a:p>
          <a:p>
            <a:pPr marL="3429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sz="2800"/>
          </a:p>
          <a:p>
            <a:pPr marL="3429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sz="2800"/>
          </a:p>
        </p:txBody>
      </p:sp>
      <p:pic>
        <p:nvPicPr>
          <p:cNvPr id="172" name="Google Shape;172;p26" descr="C:\Users\Home 33\Downloads\ccclas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5300" y="4095575"/>
            <a:ext cx="6629400" cy="243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 dirty="0"/>
              <a:t>Sequence Diagram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4994"/>
            <a:ext cx="9144000" cy="50531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Algorithms used</a:t>
            </a:r>
            <a:endParaRPr dirty="0"/>
          </a:p>
        </p:txBody>
      </p:sp>
      <p:sp>
        <p:nvSpPr>
          <p:cNvPr id="198" name="Google Shape;198;p30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dirty="0"/>
              <a:t>The project uses following Algorithms:</a:t>
            </a:r>
          </a:p>
          <a:p>
            <a:pPr marL="25400" indent="0">
              <a:buNone/>
            </a:pPr>
            <a:r>
              <a:rPr lang="en-US" sz="3100" b="1" dirty="0"/>
              <a:t>YOLOv7 (Object Detection Model):</a:t>
            </a:r>
          </a:p>
          <a:p>
            <a:pPr marL="25400" indent="0">
              <a:buNone/>
            </a:pPr>
            <a:r>
              <a:rPr lang="en-US" sz="3100" dirty="0"/>
              <a:t>— YOLOv7 is a state-of-the-art real-time object detection algorithm used to detect humans and animals in downstream areas of the dam.</a:t>
            </a:r>
            <a:br>
              <a:rPr lang="en-US" sz="3100" dirty="0"/>
            </a:br>
            <a:r>
              <a:rPr lang="en-US" sz="3100" dirty="0"/>
              <a:t>— It provides fast and accurate detection even on edge devices like Raspberry Pi.</a:t>
            </a:r>
            <a:br>
              <a:rPr lang="en-US" sz="3100" dirty="0"/>
            </a:br>
            <a:r>
              <a:rPr lang="en-US" sz="3100" dirty="0"/>
              <a:t>— Helps ensure safety by identifying movement before valve release.</a:t>
            </a:r>
          </a:p>
          <a:p>
            <a:pPr marL="25400" indent="0">
              <a:buNone/>
            </a:pPr>
            <a:r>
              <a:rPr lang="en-US" sz="3100" b="1" dirty="0"/>
              <a:t>Machine Learning Model for Rainfall Prediction:</a:t>
            </a:r>
          </a:p>
          <a:p>
            <a:pPr marL="25400" indent="0">
              <a:buNone/>
            </a:pPr>
            <a:r>
              <a:rPr lang="en-US" sz="3100" dirty="0"/>
              <a:t>— A Random Forest / Logistic Regression model is used to predict rainfall chances using temperature and humidity sensor data.</a:t>
            </a:r>
            <a:br>
              <a:rPr lang="en-US" sz="3100" dirty="0"/>
            </a:br>
            <a:r>
              <a:rPr lang="en-US" sz="3100" dirty="0"/>
              <a:t>— Helps predict water inflow and assists in planning valve operations.</a:t>
            </a:r>
            <a:br>
              <a:rPr lang="en-US" sz="3100" dirty="0"/>
            </a:br>
            <a:r>
              <a:rPr lang="en-US" sz="3100" dirty="0"/>
              <a:t>— Provides better accuracy compared to simple rule-based models.</a:t>
            </a:r>
          </a:p>
          <a:p>
            <a:pPr marL="25400" indent="0">
              <a:buNone/>
            </a:pPr>
            <a:endParaRPr lang="en-US" sz="31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Algorithms used</a:t>
            </a:r>
            <a:endParaRPr/>
          </a:p>
        </p:txBody>
      </p:sp>
      <p:sp>
        <p:nvSpPr>
          <p:cNvPr id="204" name="Google Shape;204;p31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400" indent="0">
              <a:buNone/>
            </a:pPr>
            <a:r>
              <a:rPr lang="en-US" b="1" dirty="0"/>
              <a:t> </a:t>
            </a:r>
            <a:r>
              <a:rPr lang="en-US" sz="2400" b="1" dirty="0"/>
              <a:t>Anomaly Detection (Vibration Analysis):</a:t>
            </a:r>
          </a:p>
          <a:p>
            <a:pPr marL="25400" indent="0">
              <a:buNone/>
            </a:pPr>
            <a:r>
              <a:rPr lang="en-US" sz="2400" dirty="0"/>
              <a:t>— Isolation Forest or threshold-based anomaly detection identifies unusual vibration patterns in the dam structure.</a:t>
            </a:r>
            <a:br>
              <a:rPr lang="en-US" sz="2400" dirty="0"/>
            </a:br>
            <a:r>
              <a:rPr lang="en-US" sz="2400" dirty="0"/>
              <a:t>— Helps in early detection of possible structural faults.</a:t>
            </a:r>
          </a:p>
          <a:p>
            <a:pPr marL="25400" indent="0">
              <a:buNone/>
            </a:pPr>
            <a:r>
              <a:rPr lang="en-US" sz="2400" b="1" dirty="0"/>
              <a:t>Sensor Fusion Algorithm:</a:t>
            </a:r>
          </a:p>
          <a:p>
            <a:pPr marL="25400" indent="0">
              <a:buNone/>
            </a:pPr>
            <a:r>
              <a:rPr lang="en-US" sz="2400" dirty="0"/>
              <a:t>— Combines ultrasonic level readings, DHT11 environmental data, and ML predictions.</a:t>
            </a:r>
            <a:br>
              <a:rPr lang="en-US" sz="2400" dirty="0"/>
            </a:br>
            <a:r>
              <a:rPr lang="en-US" sz="2400" dirty="0"/>
              <a:t>— Ensures more reliable and stable decision-making in water level monitoring.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Hardware and software selection </a:t>
            </a:r>
            <a:endParaRPr/>
          </a:p>
        </p:txBody>
      </p:sp>
      <p:sp>
        <p:nvSpPr>
          <p:cNvPr id="210" name="Google Shape;210;p32"/>
          <p:cNvSpPr txBox="1">
            <a:spLocks noGrp="1"/>
          </p:cNvSpPr>
          <p:nvPr>
            <p:ph type="body" idx="4294967295"/>
          </p:nvPr>
        </p:nvSpPr>
        <p:spPr>
          <a:xfrm>
            <a:off x="122722" y="967339"/>
            <a:ext cx="9021300" cy="57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400" indent="0">
              <a:buNone/>
            </a:pPr>
            <a:r>
              <a:rPr lang="en-IN" sz="1900" b="1" dirty="0"/>
              <a:t>✓ Sensors</a:t>
            </a:r>
          </a:p>
          <a:p>
            <a:r>
              <a:rPr lang="en-IN" sz="1900" b="1" dirty="0"/>
              <a:t>Ultrasonic Sensor (HC-SR04)</a:t>
            </a:r>
            <a:r>
              <a:rPr lang="en-IN" sz="1900" dirty="0"/>
              <a:t> – Measures water level.</a:t>
            </a:r>
          </a:p>
          <a:p>
            <a:r>
              <a:rPr lang="en-IN" sz="1900" b="1" dirty="0"/>
              <a:t>DHT11 / DHT22</a:t>
            </a:r>
            <a:r>
              <a:rPr lang="en-IN" sz="1900" dirty="0"/>
              <a:t> – Temperature &amp; humidity measurement.</a:t>
            </a:r>
          </a:p>
          <a:p>
            <a:r>
              <a:rPr lang="en-IN" sz="1900" b="1" dirty="0"/>
              <a:t>Vibration Sensor (SW-420)</a:t>
            </a:r>
            <a:r>
              <a:rPr lang="en-IN" sz="1900" dirty="0"/>
              <a:t> – Detects structural vibrations of the dam.</a:t>
            </a:r>
          </a:p>
          <a:p>
            <a:r>
              <a:rPr lang="en-IN" sz="1900" b="1" dirty="0"/>
              <a:t>Water Flow Sensor</a:t>
            </a:r>
            <a:r>
              <a:rPr lang="en-IN" sz="1900" dirty="0"/>
              <a:t> – Monitors rate of water inflow/outflow (optional).</a:t>
            </a:r>
          </a:p>
          <a:p>
            <a:r>
              <a:rPr lang="en-IN" sz="1900" b="1" dirty="0"/>
              <a:t>GPS Module (NEO-6M)</a:t>
            </a:r>
            <a:r>
              <a:rPr lang="en-IN" sz="1900" dirty="0"/>
              <a:t> – Provides dam node location data.</a:t>
            </a:r>
          </a:p>
          <a:p>
            <a:r>
              <a:rPr lang="en-IN" sz="1900" b="1" dirty="0"/>
              <a:t>Camera Module (ESP32-CAM)</a:t>
            </a:r>
            <a:r>
              <a:rPr lang="en-IN" sz="1900" dirty="0"/>
              <a:t> – Captures downstream images for human/animal detection.</a:t>
            </a:r>
          </a:p>
          <a:p>
            <a:pPr marL="25400" indent="0">
              <a:buNone/>
            </a:pPr>
            <a:r>
              <a:rPr lang="en-IN" sz="1900" b="1" dirty="0"/>
              <a:t>✓ </a:t>
            </a:r>
            <a:r>
              <a:rPr lang="en-IN" sz="1900" b="1" dirty="0" err="1"/>
              <a:t>IoT</a:t>
            </a:r>
            <a:r>
              <a:rPr lang="en-IN" sz="1900" b="1" dirty="0"/>
              <a:t>-enabled Microcontroller</a:t>
            </a:r>
          </a:p>
          <a:p>
            <a:r>
              <a:rPr lang="en-IN" sz="1900" b="1" dirty="0"/>
              <a:t>ESP32 (</a:t>
            </a:r>
            <a:r>
              <a:rPr lang="en-IN" sz="1900" b="1" dirty="0" err="1"/>
              <a:t>NodeMCU</a:t>
            </a:r>
            <a:r>
              <a:rPr lang="en-IN" sz="1900" b="1" dirty="0"/>
              <a:t> ESP-WROOM-32)-  </a:t>
            </a:r>
            <a:r>
              <a:rPr lang="en-US" sz="2000" dirty="0"/>
              <a:t>Built-in Wi-Fi + </a:t>
            </a:r>
            <a:r>
              <a:rPr lang="en-US" sz="2000" dirty="0" err="1"/>
              <a:t>Bluetooth,Supports</a:t>
            </a:r>
            <a:r>
              <a:rPr lang="en-US" sz="2000" dirty="0"/>
              <a:t> camera and multiple sensors</a:t>
            </a:r>
          </a:p>
          <a:p>
            <a:pPr marL="25400" indent="0">
              <a:buNone/>
            </a:pPr>
            <a:endParaRPr lang="en-US" sz="2000" dirty="0"/>
          </a:p>
          <a:p>
            <a:endParaRPr lang="en-IN" sz="19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 dirty="0"/>
              <a:t>    </a:t>
            </a:r>
            <a:endParaRPr dirty="0"/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Implementation</a:t>
            </a:r>
            <a:endParaRPr dirty="0"/>
          </a:p>
        </p:txBody>
      </p:sp>
      <p:sp>
        <p:nvSpPr>
          <p:cNvPr id="216" name="Google Shape;216;p33"/>
          <p:cNvSpPr txBox="1">
            <a:spLocks noGrp="1"/>
          </p:cNvSpPr>
          <p:nvPr>
            <p:ph type="body" idx="4294967295"/>
          </p:nvPr>
        </p:nvSpPr>
        <p:spPr>
          <a:xfrm>
            <a:off x="228600" y="990599"/>
            <a:ext cx="8610600" cy="5610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25400" indent="0">
              <a:buNone/>
            </a:pPr>
            <a:r>
              <a:rPr lang="en-US" sz="2400" b="1" dirty="0"/>
              <a:t>• The project is implemented using Python, Arduino (ESP32), </a:t>
            </a:r>
            <a:r>
              <a:rPr lang="en-US" sz="2400" b="1" dirty="0" err="1"/>
              <a:t>OpenCV</a:t>
            </a:r>
            <a:r>
              <a:rPr lang="en-US" sz="2400" b="1" dirty="0"/>
              <a:t>, Firebase, and Flask.</a:t>
            </a:r>
          </a:p>
          <a:p>
            <a:pPr marL="25400" indent="0">
              <a:buNone/>
            </a:pPr>
            <a:r>
              <a:rPr lang="en-US" sz="2400" b="1" dirty="0"/>
              <a:t>• The ESP32 microcontroller is programmed to:</a:t>
            </a:r>
          </a:p>
          <a:p>
            <a:pPr marL="25400" indent="0">
              <a:buNone/>
            </a:pPr>
            <a:r>
              <a:rPr lang="en-US" sz="2400" dirty="0"/>
              <a:t>— Read sensor values (Ultrasonic, DHT11, Vibration, GPS).</a:t>
            </a:r>
            <a:br>
              <a:rPr lang="en-US" sz="2400" dirty="0"/>
            </a:br>
            <a:r>
              <a:rPr lang="en-US" sz="2400" dirty="0"/>
              <a:t>— Format the data into JSON.</a:t>
            </a:r>
            <a:br>
              <a:rPr lang="en-US" sz="2400" dirty="0"/>
            </a:br>
            <a:r>
              <a:rPr lang="en-US" sz="2400" dirty="0"/>
              <a:t>— Upload the data to </a:t>
            </a:r>
            <a:r>
              <a:rPr lang="en-US" sz="2400" b="1" dirty="0"/>
              <a:t>Firebase </a:t>
            </a:r>
            <a:r>
              <a:rPr lang="en-US" sz="2400" b="1" dirty="0" err="1"/>
              <a:t>Realtime</a:t>
            </a:r>
            <a:r>
              <a:rPr lang="en-US" sz="2400" b="1" dirty="0"/>
              <a:t> Database</a:t>
            </a:r>
            <a:r>
              <a:rPr lang="en-US" sz="2400" dirty="0"/>
              <a:t> using REST API.</a:t>
            </a:r>
          </a:p>
          <a:p>
            <a:pPr marL="25400" indent="0">
              <a:buNone/>
            </a:pPr>
            <a:r>
              <a:rPr lang="en-US" sz="2400" b="1" dirty="0"/>
              <a:t>• The camera module (ESP32-CAM / Raspberry Pi Camera) captures images or live video streams for:</a:t>
            </a:r>
          </a:p>
          <a:p>
            <a:pPr marL="25400" indent="0">
              <a:buNone/>
            </a:pPr>
            <a:r>
              <a:rPr lang="en-US" sz="2400" dirty="0"/>
              <a:t>— Human detection</a:t>
            </a:r>
            <a:br>
              <a:rPr lang="en-US" sz="2400" dirty="0"/>
            </a:br>
            <a:r>
              <a:rPr lang="en-US" sz="2400" dirty="0"/>
              <a:t>— Animal detection</a:t>
            </a:r>
            <a:br>
              <a:rPr lang="en-US" sz="2400" dirty="0"/>
            </a:br>
            <a:r>
              <a:rPr lang="en-US" sz="2400" dirty="0"/>
              <a:t>— Downstream activity monitoring</a:t>
            </a:r>
          </a:p>
          <a:p>
            <a:pPr marL="25400" indent="0">
              <a:buNone/>
            </a:pPr>
            <a:r>
              <a:rPr lang="en-US" sz="2400" b="1" dirty="0"/>
              <a:t>• The ML Prediction Module is developed using Python:</a:t>
            </a:r>
          </a:p>
          <a:p>
            <a:pPr marL="25400" indent="0">
              <a:buNone/>
            </a:pPr>
            <a:r>
              <a:rPr lang="en-US" sz="2400" dirty="0"/>
              <a:t>— Sensor data (Temperature, Humidity) is fetched from Firebase.</a:t>
            </a:r>
            <a:br>
              <a:rPr lang="en-US" sz="2400" dirty="0"/>
            </a:br>
            <a:r>
              <a:rPr lang="en-US" sz="2400" dirty="0"/>
              <a:t>— ML model (Random Forest / Logistic Regression) predicts rainfall possibility.</a:t>
            </a:r>
            <a:br>
              <a:rPr lang="en-US" sz="2400" dirty="0"/>
            </a:br>
            <a:r>
              <a:rPr lang="en-US" sz="2400" dirty="0"/>
              <a:t>— Result is updated back into Firebase.</a:t>
            </a:r>
          </a:p>
          <a:p>
            <a:pPr marL="25400" indent="0">
              <a:buNone/>
            </a:pPr>
            <a:r>
              <a:rPr lang="en-US" sz="2400" b="1" dirty="0"/>
              <a:t>• The Computer Vision module uses YOLOv7 / Tiny YOLO:</a:t>
            </a:r>
          </a:p>
          <a:p>
            <a:pPr marL="25400" indent="0">
              <a:buNone/>
            </a:pPr>
            <a:r>
              <a:rPr lang="en-US" sz="2400" dirty="0"/>
              <a:t>— Detects humans/animals present in the downstream region.</a:t>
            </a:r>
            <a:br>
              <a:rPr lang="en-US" sz="2400" dirty="0"/>
            </a:br>
            <a:r>
              <a:rPr lang="en-US" sz="2400" dirty="0"/>
              <a:t>— Draws bounding boxes and labels during detection.</a:t>
            </a:r>
            <a:br>
              <a:rPr lang="en-US" sz="2400" dirty="0"/>
            </a:br>
            <a:r>
              <a:rPr lang="en-US" sz="2400" dirty="0"/>
              <a:t>— Sends alerts to Firebase when objects are detected.</a:t>
            </a:r>
          </a:p>
          <a:p>
            <a:pPr marL="25400" indent="0">
              <a:buNone/>
            </a:pPr>
            <a:r>
              <a:rPr lang="en-US" sz="2400" b="1" dirty="0"/>
              <a:t>• A Flask server handles:</a:t>
            </a:r>
          </a:p>
          <a:p>
            <a:pPr marL="25400" indent="0">
              <a:buNone/>
            </a:pPr>
            <a:r>
              <a:rPr lang="en-US" sz="2400" dirty="0"/>
              <a:t>— Running ML prediction periodically</a:t>
            </a:r>
            <a:br>
              <a:rPr lang="en-US" sz="2400" dirty="0"/>
            </a:br>
            <a:r>
              <a:rPr lang="en-US" sz="2400" dirty="0"/>
              <a:t>— Serving detection results</a:t>
            </a:r>
            <a:br>
              <a:rPr lang="en-US" sz="2400" dirty="0"/>
            </a:br>
            <a:r>
              <a:rPr lang="en-US" sz="2400" dirty="0"/>
              <a:t>— Interacting with Firebase</a:t>
            </a:r>
          </a:p>
          <a:p>
            <a:pPr marL="25400" indent="0">
              <a:buNone/>
            </a:pPr>
            <a:r>
              <a:rPr lang="en-US" sz="2400" b="1" dirty="0"/>
              <a:t>• The web dashboard retrieves all real-time values from Firebase:</a:t>
            </a:r>
          </a:p>
          <a:p>
            <a:pPr marL="25400" indent="0">
              <a:buNone/>
            </a:pPr>
            <a:r>
              <a:rPr lang="en-US" sz="2400" dirty="0"/>
              <a:t>— Water level</a:t>
            </a:r>
            <a:br>
              <a:rPr lang="en-US" sz="2400" dirty="0"/>
            </a:br>
            <a:r>
              <a:rPr lang="en-US" sz="2400" dirty="0"/>
              <a:t>— Rainfall prediction</a:t>
            </a:r>
            <a:br>
              <a:rPr lang="en-US" sz="2400" dirty="0"/>
            </a:br>
            <a:r>
              <a:rPr lang="en-US" sz="2400" dirty="0"/>
              <a:t>— Human/animal alerts</a:t>
            </a:r>
            <a:br>
              <a:rPr lang="en-US" sz="2400" dirty="0"/>
            </a:br>
            <a:r>
              <a:rPr lang="en-US" sz="2400" dirty="0"/>
              <a:t>— Sensor health status</a:t>
            </a:r>
          </a:p>
          <a:p>
            <a:pPr marL="25400" indent="0">
              <a:buNone/>
            </a:pPr>
            <a:r>
              <a:rPr lang="en-US" sz="2400" b="1" dirty="0"/>
              <a:t>• The servo motor (valve control) is automatically triggered when:</a:t>
            </a:r>
          </a:p>
          <a:p>
            <a:pPr marL="25400" indent="0">
              <a:buNone/>
            </a:pPr>
            <a:r>
              <a:rPr lang="en-US" sz="2400" dirty="0"/>
              <a:t>— Water level crosses threshold</a:t>
            </a:r>
            <a:br>
              <a:rPr lang="en-US" sz="2400" dirty="0"/>
            </a:br>
            <a:r>
              <a:rPr lang="en-US" sz="2400" dirty="0"/>
              <a:t>— No humans/animals are detected in downstream region</a:t>
            </a:r>
            <a:br>
              <a:rPr lang="en-US" sz="2400" dirty="0"/>
            </a:br>
            <a:r>
              <a:rPr lang="en-US" sz="2400" dirty="0"/>
              <a:t>— System safety conditions are satisfied</a:t>
            </a:r>
          </a:p>
          <a:p>
            <a:pPr marL="25400" indent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Important Code segments</a:t>
            </a:r>
            <a:endParaRPr dirty="0"/>
          </a:p>
        </p:txBody>
      </p:sp>
      <p:sp>
        <p:nvSpPr>
          <p:cNvPr id="222" name="Google Shape;222;p34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rmAutofit fontScale="32500" lnSpcReduction="20000"/>
          </a:bodyPr>
          <a:lstStyle/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pt-BR" dirty="0"/>
              <a:t>• </a:t>
            </a:r>
            <a:r>
              <a:rPr lang="pt-BR" b="1" dirty="0"/>
              <a:t>ESP32 Sensor Node Program (Arduino)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/* esp32_node.ino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 Reads DHT11, ultrasonic (HC-SR04 stub), vibration (</a:t>
            </a:r>
            <a:r>
              <a:rPr lang="en-IN" dirty="0" err="1"/>
              <a:t>analog</a:t>
            </a:r>
            <a:r>
              <a:rPr lang="en-IN" dirty="0"/>
              <a:t>) and uploads JSON to Firebase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*/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#include &lt;</a:t>
            </a:r>
            <a:r>
              <a:rPr lang="en-IN" dirty="0" err="1"/>
              <a:t>WiFi.h</a:t>
            </a:r>
            <a:r>
              <a:rPr lang="en-IN" dirty="0"/>
              <a:t>&gt;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#include &lt;</a:t>
            </a:r>
            <a:r>
              <a:rPr lang="en-IN" dirty="0" err="1"/>
              <a:t>HTTPClient.h</a:t>
            </a:r>
            <a:r>
              <a:rPr lang="en-IN" dirty="0"/>
              <a:t>&gt;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#include "</a:t>
            </a:r>
            <a:r>
              <a:rPr lang="en-IN" dirty="0" err="1"/>
              <a:t>DHT.h</a:t>
            </a:r>
            <a:r>
              <a:rPr lang="en-IN" dirty="0"/>
              <a:t>"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endParaRPr lang="en-IN" dirty="0"/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#define DHTPIN 4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#define DHTTYPE DHT11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DHT </a:t>
            </a:r>
            <a:r>
              <a:rPr lang="en-IN" dirty="0" err="1"/>
              <a:t>dht</a:t>
            </a:r>
            <a:r>
              <a:rPr lang="en-IN" dirty="0"/>
              <a:t>(DHTPIN, DHTTYPE);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endParaRPr lang="en-IN" dirty="0"/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 err="1"/>
              <a:t>const</a:t>
            </a:r>
            <a:r>
              <a:rPr lang="en-IN" dirty="0"/>
              <a:t> char* </a:t>
            </a:r>
            <a:r>
              <a:rPr lang="en-IN" dirty="0" err="1"/>
              <a:t>ssid</a:t>
            </a:r>
            <a:r>
              <a:rPr lang="en-IN" dirty="0"/>
              <a:t> = "WIFI_SSID";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 err="1"/>
              <a:t>const</a:t>
            </a:r>
            <a:r>
              <a:rPr lang="en-IN" dirty="0"/>
              <a:t> char* password = "WIFI_PASS";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String FIREBASE_HOST = "https://&lt;YOUR_PROJECT&gt;.firebaseio.com";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String NODE_PATH = "/</a:t>
            </a:r>
            <a:r>
              <a:rPr lang="en-IN" dirty="0" err="1"/>
              <a:t>smartdam</a:t>
            </a:r>
            <a:r>
              <a:rPr lang="en-IN" dirty="0"/>
              <a:t>/nodes/node01.json"; // update per node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endParaRPr lang="en-IN" dirty="0"/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long </a:t>
            </a:r>
            <a:r>
              <a:rPr lang="en-IN" dirty="0" err="1"/>
              <a:t>readUltrasonicCM</a:t>
            </a:r>
            <a:r>
              <a:rPr lang="en-IN" dirty="0"/>
              <a:t>() {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// Replace with real HC-SR04 reading routine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return 120; // example (cm)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}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readVibration</a:t>
            </a:r>
            <a:r>
              <a:rPr lang="en-IN" dirty="0"/>
              <a:t>() {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return </a:t>
            </a:r>
            <a:r>
              <a:rPr lang="en-IN" dirty="0" err="1"/>
              <a:t>analogRead</a:t>
            </a:r>
            <a:r>
              <a:rPr lang="en-IN" dirty="0"/>
              <a:t>(34); // example </a:t>
            </a:r>
            <a:r>
              <a:rPr lang="en-IN" dirty="0" err="1"/>
              <a:t>analog</a:t>
            </a:r>
            <a:r>
              <a:rPr lang="en-IN" dirty="0"/>
              <a:t> pin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}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endParaRPr lang="en-IN" dirty="0"/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void setup() {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</a:t>
            </a:r>
            <a:r>
              <a:rPr lang="en-IN" dirty="0" err="1"/>
              <a:t>Serial.begin</a:t>
            </a:r>
            <a:r>
              <a:rPr lang="en-IN" dirty="0"/>
              <a:t>(115200);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</a:t>
            </a:r>
            <a:r>
              <a:rPr lang="en-IN" dirty="0" err="1"/>
              <a:t>dht.begin</a:t>
            </a:r>
            <a:r>
              <a:rPr lang="en-IN" dirty="0"/>
              <a:t>();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</a:t>
            </a:r>
            <a:r>
              <a:rPr lang="en-IN" dirty="0" err="1"/>
              <a:t>WiFi.begin</a:t>
            </a:r>
            <a:r>
              <a:rPr lang="en-IN" dirty="0"/>
              <a:t>(</a:t>
            </a:r>
            <a:r>
              <a:rPr lang="en-IN" dirty="0" err="1"/>
              <a:t>ssid</a:t>
            </a:r>
            <a:r>
              <a:rPr lang="en-IN" dirty="0"/>
              <a:t>, password);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while (</a:t>
            </a:r>
            <a:r>
              <a:rPr lang="en-IN" dirty="0" err="1"/>
              <a:t>WiFi.status</a:t>
            </a:r>
            <a:r>
              <a:rPr lang="en-IN" dirty="0"/>
              <a:t>() != WL_CONNECTED) {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  delay(500); </a:t>
            </a:r>
            <a:r>
              <a:rPr lang="en-IN" dirty="0" err="1"/>
              <a:t>Serial.print</a:t>
            </a:r>
            <a:r>
              <a:rPr lang="en-IN" dirty="0"/>
              <a:t>(".");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}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</a:t>
            </a:r>
            <a:r>
              <a:rPr lang="en-IN" dirty="0" err="1"/>
              <a:t>Serial.println</a:t>
            </a:r>
            <a:r>
              <a:rPr lang="en-IN" dirty="0"/>
              <a:t>("\</a:t>
            </a:r>
            <a:r>
              <a:rPr lang="en-IN" dirty="0" err="1"/>
              <a:t>nWiFi</a:t>
            </a:r>
            <a:r>
              <a:rPr lang="en-IN" dirty="0"/>
              <a:t> connected");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}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endParaRPr lang="en-IN" dirty="0"/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void loop() {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float temp = </a:t>
            </a:r>
            <a:r>
              <a:rPr lang="en-IN" dirty="0" err="1"/>
              <a:t>dht.readTemperature</a:t>
            </a:r>
            <a:r>
              <a:rPr lang="en-IN" dirty="0"/>
              <a:t>();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float hum = </a:t>
            </a:r>
            <a:r>
              <a:rPr lang="en-IN" dirty="0" err="1"/>
              <a:t>dht.readHumidity</a:t>
            </a:r>
            <a:r>
              <a:rPr lang="en-IN" dirty="0"/>
              <a:t>();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long </a:t>
            </a:r>
            <a:r>
              <a:rPr lang="en-IN" dirty="0" err="1"/>
              <a:t>waterLevel</a:t>
            </a:r>
            <a:r>
              <a:rPr lang="en-IN" dirty="0"/>
              <a:t> = </a:t>
            </a:r>
            <a:r>
              <a:rPr lang="en-IN" dirty="0" err="1"/>
              <a:t>readUltrasonicCM</a:t>
            </a:r>
            <a:r>
              <a:rPr lang="en-IN" dirty="0"/>
              <a:t>();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</a:t>
            </a:r>
            <a:r>
              <a:rPr lang="en-IN" dirty="0" err="1"/>
              <a:t>int</a:t>
            </a:r>
            <a:r>
              <a:rPr lang="en-IN" dirty="0"/>
              <a:t> vibration = </a:t>
            </a:r>
            <a:r>
              <a:rPr lang="en-IN" dirty="0" err="1"/>
              <a:t>readVibration</a:t>
            </a:r>
            <a:r>
              <a:rPr lang="en-IN" dirty="0"/>
              <a:t>();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endParaRPr lang="en-IN" dirty="0"/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String payload = "{";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payload += "\"temperature\":" + String(temp,1) + ",";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payload += "\"humidity\":" + String(hum,1) + ",";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payload += "\"</a:t>
            </a:r>
            <a:r>
              <a:rPr lang="en-IN" dirty="0" err="1"/>
              <a:t>water_level_cm</a:t>
            </a:r>
            <a:r>
              <a:rPr lang="en-IN" dirty="0"/>
              <a:t>\":" + String(</a:t>
            </a:r>
            <a:r>
              <a:rPr lang="en-IN" dirty="0" err="1"/>
              <a:t>waterLevel</a:t>
            </a:r>
            <a:r>
              <a:rPr lang="en-IN" dirty="0"/>
              <a:t>) + ",";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payload += "\"vibration\":" + String(vibration);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payload += "}";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endParaRPr lang="en-IN" dirty="0"/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if (</a:t>
            </a:r>
            <a:r>
              <a:rPr lang="en-IN" dirty="0" err="1"/>
              <a:t>WiFi.status</a:t>
            </a:r>
            <a:r>
              <a:rPr lang="en-IN" dirty="0"/>
              <a:t>() == WL_CONNECTED) {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  </a:t>
            </a:r>
            <a:r>
              <a:rPr lang="en-IN" dirty="0" err="1"/>
              <a:t>HTTPClient</a:t>
            </a:r>
            <a:r>
              <a:rPr lang="en-IN" dirty="0"/>
              <a:t> http;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  String </a:t>
            </a:r>
            <a:r>
              <a:rPr lang="en-IN" dirty="0" err="1"/>
              <a:t>url</a:t>
            </a:r>
            <a:r>
              <a:rPr lang="en-IN" dirty="0"/>
              <a:t> = FIREBASE_HOST + NODE_PATH;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  </a:t>
            </a:r>
            <a:r>
              <a:rPr lang="en-IN" dirty="0" err="1"/>
              <a:t>http.begin</a:t>
            </a:r>
            <a:r>
              <a:rPr lang="en-IN" dirty="0"/>
              <a:t>(</a:t>
            </a:r>
            <a:r>
              <a:rPr lang="en-IN" dirty="0" err="1"/>
              <a:t>url</a:t>
            </a:r>
            <a:r>
              <a:rPr lang="en-IN" dirty="0"/>
              <a:t>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  </a:t>
            </a:r>
            <a:r>
              <a:rPr lang="en-IN" dirty="0" err="1"/>
              <a:t>http.addHeader</a:t>
            </a:r>
            <a:r>
              <a:rPr lang="en-IN" dirty="0"/>
              <a:t>("Content-Type", "application/</a:t>
            </a:r>
            <a:r>
              <a:rPr lang="en-IN" dirty="0" err="1"/>
              <a:t>json</a:t>
            </a:r>
            <a:r>
              <a:rPr lang="en-IN" dirty="0"/>
              <a:t>");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code = </a:t>
            </a:r>
            <a:r>
              <a:rPr lang="en-IN" dirty="0" err="1"/>
              <a:t>http.PUT</a:t>
            </a:r>
            <a:r>
              <a:rPr lang="en-IN" dirty="0"/>
              <a:t>(payload);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  </a:t>
            </a:r>
            <a:r>
              <a:rPr lang="en-IN" dirty="0" err="1"/>
              <a:t>Serial.println</a:t>
            </a:r>
            <a:r>
              <a:rPr lang="en-IN" dirty="0"/>
              <a:t>("Firebase PUT code: " + String(code));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  </a:t>
            </a:r>
            <a:r>
              <a:rPr lang="en-IN" dirty="0" err="1"/>
              <a:t>http.end</a:t>
            </a:r>
            <a:r>
              <a:rPr lang="en-IN" dirty="0"/>
              <a:t>();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}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  delay(8000); // send every 8s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r>
              <a:rPr lang="en-IN" dirty="0"/>
              <a:t>}</a:t>
            </a:r>
          </a:p>
          <a:p>
            <a:pPr marL="342900" lvl="0" indent="-342900" algn="just">
              <a:spcBef>
                <a:spcPts val="300"/>
              </a:spcBef>
              <a:buSzPct val="213333"/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Important Code segments</a:t>
            </a:r>
            <a:endParaRPr/>
          </a:p>
        </p:txBody>
      </p:sp>
      <p:sp>
        <p:nvSpPr>
          <p:cNvPr id="228" name="Google Shape;228;p35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rmAutofit fontScale="92500" lnSpcReduction="10000"/>
          </a:bodyPr>
          <a:lstStyle/>
          <a:p>
            <a:pPr marL="342900" lvl="0" indent="-342900" algn="just">
              <a:spcBef>
                <a:spcPts val="300"/>
              </a:spcBef>
              <a:buSzPct val="156862"/>
              <a:buFont typeface="Arial" panose="020B0604020202020204" pitchFamily="34" charset="0"/>
              <a:buChar char="•"/>
            </a:pPr>
            <a:r>
              <a:rPr lang="en-IN" sz="1100" b="1" dirty="0"/>
              <a:t>Flask ML service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# flask_ml.py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from flask import Flask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import requests,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joblib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numpy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as np, time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FIREBASE_NODE = "https://&lt;YOUR_PROJECT&gt;.firebaseio.com/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smartdam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/nodes/node01.json"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FIREBASE_PATCH = "https://&lt;YOUR_PROJECT&gt;.firebaseio.com/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smartdam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/nodes/node01.json"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app = Flask(__name__)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# load trained model (created from train_model.py)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model =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joblib.load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rainfall_model.joblib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")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def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fetch_latest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():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r =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requests.get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(FIREBASE_NODE)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if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r.status_code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== 200: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    return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r.json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return None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def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update_prediction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(text):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requests.patch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(FIREBASE_PATCH,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json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={"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Rainfall_Prediction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": text})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@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app.route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('/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predict_once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')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def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predict_once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():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data =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fetch_latest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if not data: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    return "No data", 500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temp =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data.get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("temperature")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hum =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data.get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("humidity")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if temp is None or hum is None: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    return "Missing", 400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pred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model.predict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([[temp, hum]])[0]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label = "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HighChance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" if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pred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==1 else "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LowChance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update_prediction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(label)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return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f"Predicted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{label}"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if __name__ == "__main__":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app.run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(host="0.0.0.0", port=5000)</a:t>
            </a:r>
          </a:p>
          <a:p>
            <a:pPr marL="342900" lvl="0" indent="-342900" algn="just">
              <a:spcBef>
                <a:spcPts val="300"/>
              </a:spcBef>
              <a:buSzPct val="156862"/>
              <a:buFont typeface="Arial" panose="020B0604020202020204" pitchFamily="34" charset="0"/>
              <a:buChar char="•"/>
            </a:pPr>
            <a:r>
              <a:rPr lang="en-IN" sz="1100" b="1" dirty="0"/>
              <a:t>Firebase helper (Python)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# firebase_client.py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import requests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BASE = "https://&lt;YOUR_PROJECT&gt;.firebaseio.com"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def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put(path, data):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url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= f"{BASE}{path}.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json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r =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requests.put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url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json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=data)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return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r.status_code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r.text</a:t>
            </a: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def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patch(path, data):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url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= f"{BASE}{path}.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json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r =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requests.patch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url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json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=data)</a:t>
            </a: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   return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r.status_code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r.text</a:t>
            </a: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endParaRPr sz="11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Important Code segments</a:t>
            </a:r>
            <a:endParaRPr/>
          </a:p>
        </p:txBody>
      </p:sp>
      <p:sp>
        <p:nvSpPr>
          <p:cNvPr id="234" name="Google Shape;234;p36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rmAutofit/>
          </a:bodyPr>
          <a:lstStyle/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b="1" dirty="0"/>
              <a:t>Dashboard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/>
              <a:t>&lt;!-- dashboard_stub.html --&gt;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/>
              <a:t>&lt;div id="water"&gt;Water Level: --&lt;/div&gt;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/>
              <a:t>&lt;div id="temp"&gt;Temperature: --&lt;/div&gt;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/>
              <a:t>&lt;div id="hum"&gt;Humidity: --&lt;/div&gt;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/>
              <a:t>&lt;div id="</a:t>
            </a:r>
            <a:r>
              <a:rPr lang="en-IN" sz="1100" dirty="0" err="1"/>
              <a:t>pred</a:t>
            </a:r>
            <a:r>
              <a:rPr lang="en-IN" sz="1100" dirty="0"/>
              <a:t>"&gt;Prediction: --&lt;/div&gt;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endParaRPr lang="en-IN" sz="1100" dirty="0"/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/>
              <a:t>&lt;script&gt;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 err="1"/>
              <a:t>async</a:t>
            </a:r>
            <a:r>
              <a:rPr lang="en-IN" sz="1100" dirty="0"/>
              <a:t> function </a:t>
            </a:r>
            <a:r>
              <a:rPr lang="en-IN" sz="1100" dirty="0" err="1"/>
              <a:t>fetchData</a:t>
            </a:r>
            <a:r>
              <a:rPr lang="en-IN" sz="1100" dirty="0"/>
              <a:t>(){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/>
              <a:t>  </a:t>
            </a:r>
            <a:r>
              <a:rPr lang="en-IN" sz="1100" dirty="0" err="1"/>
              <a:t>const</a:t>
            </a:r>
            <a:r>
              <a:rPr lang="en-IN" sz="1100" dirty="0"/>
              <a:t> res = await fetch('https://&lt;YOUR_PROJECT&gt;.firebaseio.com/</a:t>
            </a:r>
            <a:r>
              <a:rPr lang="en-IN" sz="1100" dirty="0" err="1"/>
              <a:t>smartdam</a:t>
            </a:r>
            <a:r>
              <a:rPr lang="en-IN" sz="1100" dirty="0"/>
              <a:t>/nodes/node01.json');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/>
              <a:t>  </a:t>
            </a:r>
            <a:r>
              <a:rPr lang="en-IN" sz="1100" dirty="0" err="1"/>
              <a:t>const</a:t>
            </a:r>
            <a:r>
              <a:rPr lang="en-IN" sz="1100" dirty="0"/>
              <a:t> d = await </a:t>
            </a:r>
            <a:r>
              <a:rPr lang="en-IN" sz="1100" dirty="0" err="1"/>
              <a:t>res.json</a:t>
            </a:r>
            <a:r>
              <a:rPr lang="en-IN" sz="1100" dirty="0"/>
              <a:t>();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/>
              <a:t>  </a:t>
            </a:r>
            <a:r>
              <a:rPr lang="en-IN" sz="1100" dirty="0" err="1"/>
              <a:t>document.getElementById</a:t>
            </a:r>
            <a:r>
              <a:rPr lang="en-IN" sz="1100" dirty="0"/>
              <a:t>('water').</a:t>
            </a:r>
            <a:r>
              <a:rPr lang="en-IN" sz="1100" dirty="0" err="1"/>
              <a:t>innerText</a:t>
            </a:r>
            <a:r>
              <a:rPr lang="en-IN" sz="1100" dirty="0"/>
              <a:t> = "Water Level: " + (</a:t>
            </a:r>
            <a:r>
              <a:rPr lang="en-IN" sz="1100" dirty="0" err="1"/>
              <a:t>d.water_level_cm</a:t>
            </a:r>
            <a:r>
              <a:rPr lang="en-IN" sz="1100" dirty="0"/>
              <a:t> || '--');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/>
              <a:t>  </a:t>
            </a:r>
            <a:r>
              <a:rPr lang="en-IN" sz="1100" dirty="0" err="1"/>
              <a:t>document.getElementById</a:t>
            </a:r>
            <a:r>
              <a:rPr lang="en-IN" sz="1100" dirty="0"/>
              <a:t>('temp').</a:t>
            </a:r>
            <a:r>
              <a:rPr lang="en-IN" sz="1100" dirty="0" err="1"/>
              <a:t>innerText</a:t>
            </a:r>
            <a:r>
              <a:rPr lang="en-IN" sz="1100" dirty="0"/>
              <a:t> = "Temp: " + (</a:t>
            </a:r>
            <a:r>
              <a:rPr lang="en-IN" sz="1100" dirty="0" err="1"/>
              <a:t>d.temperature</a:t>
            </a:r>
            <a:r>
              <a:rPr lang="en-IN" sz="1100" dirty="0"/>
              <a:t> || '--');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/>
              <a:t>  </a:t>
            </a:r>
            <a:r>
              <a:rPr lang="en-IN" sz="1100" dirty="0" err="1"/>
              <a:t>document.getElementById</a:t>
            </a:r>
            <a:r>
              <a:rPr lang="en-IN" sz="1100" dirty="0"/>
              <a:t>('hum').</a:t>
            </a:r>
            <a:r>
              <a:rPr lang="en-IN" sz="1100" dirty="0" err="1"/>
              <a:t>innerText</a:t>
            </a:r>
            <a:r>
              <a:rPr lang="en-IN" sz="1100" dirty="0"/>
              <a:t> = "Hum: " + (</a:t>
            </a:r>
            <a:r>
              <a:rPr lang="en-IN" sz="1100" dirty="0" err="1"/>
              <a:t>d.humidity</a:t>
            </a:r>
            <a:r>
              <a:rPr lang="en-IN" sz="1100" dirty="0"/>
              <a:t> || '--');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/>
              <a:t>  </a:t>
            </a:r>
            <a:r>
              <a:rPr lang="en-IN" sz="1100" dirty="0" err="1"/>
              <a:t>document.getElementById</a:t>
            </a:r>
            <a:r>
              <a:rPr lang="en-IN" sz="1100" dirty="0"/>
              <a:t>('</a:t>
            </a:r>
            <a:r>
              <a:rPr lang="en-IN" sz="1100" dirty="0" err="1"/>
              <a:t>pred</a:t>
            </a:r>
            <a:r>
              <a:rPr lang="en-IN" sz="1100" dirty="0"/>
              <a:t>').</a:t>
            </a:r>
            <a:r>
              <a:rPr lang="en-IN" sz="1100" dirty="0" err="1"/>
              <a:t>innerText</a:t>
            </a:r>
            <a:r>
              <a:rPr lang="en-IN" sz="1100" dirty="0"/>
              <a:t> = "Prediction: " + (</a:t>
            </a:r>
            <a:r>
              <a:rPr lang="en-IN" sz="1100" dirty="0" err="1"/>
              <a:t>d.Rainfall_Prediction</a:t>
            </a:r>
            <a:r>
              <a:rPr lang="en-IN" sz="1100" dirty="0"/>
              <a:t> || '--');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/>
              <a:t>}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 err="1"/>
              <a:t>setInterval</a:t>
            </a:r>
            <a:r>
              <a:rPr lang="en-IN" sz="1100" dirty="0"/>
              <a:t>(</a:t>
            </a:r>
            <a:r>
              <a:rPr lang="en-IN" sz="1100" dirty="0" err="1"/>
              <a:t>fetchData</a:t>
            </a:r>
            <a:r>
              <a:rPr lang="en-IN" sz="1100" dirty="0"/>
              <a:t>, 5000);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 err="1"/>
              <a:t>fetchData</a:t>
            </a:r>
            <a:r>
              <a:rPr lang="en-IN" sz="1100" dirty="0"/>
              <a:t>();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/>
              <a:t>&lt;/script&gt;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endParaRPr lang="en-IN" sz="1100" dirty="0"/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b="1" dirty="0"/>
              <a:t>Simple training script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# train_model.py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import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numpy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as np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from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sklearn.ensemble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import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RandomForestClassifier</a:t>
            </a: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import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joblib</a:t>
            </a: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# Replace with actual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labeled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dataset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X =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np.array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([[25,60],[22,80],[30,30],[18,90],[26,70],[20,85]])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y =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np.array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([0,1,0,1,1,1])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endParaRPr lang="en-IN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clf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RandomForestClassifier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n_estimators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=50,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random_state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=42)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clf.fit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X,y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print("Done training. Score:", 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clf.score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X,y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))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joblib.dump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clf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, "</a:t>
            </a:r>
            <a:r>
              <a:rPr lang="en-IN" sz="1100" dirty="0" err="1">
                <a:latin typeface="Times New Roman"/>
                <a:ea typeface="Times New Roman"/>
                <a:cs typeface="Times New Roman"/>
                <a:sym typeface="Times New Roman"/>
              </a:rPr>
              <a:t>rainfall_model.joblib</a:t>
            </a:r>
            <a:r>
              <a:rPr lang="en-IN" sz="1100" dirty="0">
                <a:latin typeface="Times New Roman"/>
                <a:ea typeface="Times New Roman"/>
                <a:cs typeface="Times New Roman"/>
                <a:sym typeface="Times New Roman"/>
              </a:rPr>
              <a:t>")</a:t>
            </a:r>
          </a:p>
          <a:p>
            <a:pPr marL="342900" lvl="0" indent="-342900" algn="just">
              <a:spcBef>
                <a:spcPts val="320"/>
              </a:spcBef>
              <a:buSzPct val="320000"/>
              <a:buNone/>
            </a:pPr>
            <a:endParaRPr sz="1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Output</a:t>
            </a:r>
            <a:endParaRPr/>
          </a:p>
        </p:txBody>
      </p:sp>
      <p:sp>
        <p:nvSpPr>
          <p:cNvPr id="240" name="Google Shape;240;p37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79400" algn="just">
              <a:spcBef>
                <a:spcPts val="407"/>
              </a:spcBef>
              <a:buSzPts val="2200"/>
              <a:buFont typeface="Times New Roman"/>
              <a:buChar char="•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The Smart Dam Monitoring System output confirms successful real-time data logging and local display of critical environmental parameters, showing Temperature 25.00°C, Humidity 20.00%, and a High Water Level.</a:t>
            </a:r>
            <a:endParaRPr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873829"/>
            <a:ext cx="7737566" cy="38491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1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Test Cases</a:t>
            </a:r>
            <a:endParaRPr/>
          </a:p>
        </p:txBody>
      </p:sp>
      <p:sp>
        <p:nvSpPr>
          <p:cNvPr id="271" name="Google Shape;271;p41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Test Cases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72" name="Google Shape;272;p41"/>
          <p:cNvGraphicFramePr/>
          <p:nvPr>
            <p:extLst>
              <p:ext uri="{D42A27DB-BD31-4B8C-83A1-F6EECF244321}">
                <p14:modId xmlns:p14="http://schemas.microsoft.com/office/powerpoint/2010/main" val="2155401001"/>
              </p:ext>
            </p:extLst>
          </p:nvPr>
        </p:nvGraphicFramePr>
        <p:xfrm>
          <a:off x="587700" y="914539"/>
          <a:ext cx="7734300" cy="5926511"/>
        </p:xfrm>
        <a:graphic>
          <a:graphicData uri="http://schemas.openxmlformats.org/drawingml/2006/table">
            <a:tbl>
              <a:tblPr>
                <a:noFill/>
                <a:tableStyleId>{BB48DF8F-920E-4208-BB8D-BB94EDD709D4}</a:tableStyleId>
              </a:tblPr>
              <a:tblGrid>
                <a:gridCol w="68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39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sz="9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sz="9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sz="9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output</a:t>
                      </a:r>
                      <a:endParaRPr sz="9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output</a:t>
                      </a:r>
                      <a:endParaRPr sz="9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Result</a:t>
                      </a:r>
                      <a:endParaRPr sz="9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192">
                <a:tc>
                  <a:txBody>
                    <a:bodyPr/>
                    <a:lstStyle/>
                    <a:p>
                      <a:r>
                        <a:rPr lang="en-IN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Data Logging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sends a data packet (Water Level, Temp, Humidity) to the cloud.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is received and persistently logged in the 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Firebase </a:t>
                      </a:r>
                      <a:r>
                        <a:rPr lang="en-US" sz="9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Realtime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Database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an accurate timestamp.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successfully uploaded to Firebase; new log entry created instantly with all sensor values.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Result: </a:t>
                      </a:r>
                      <a:r>
                        <a:rPr lang="en-IN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6221">
                <a:tc>
                  <a:txBody>
                    <a:bodyPr/>
                    <a:lstStyle/>
                    <a:p>
                      <a:r>
                        <a:rPr lang="en-IN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Gate Actuation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simulated 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Level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exceeds the 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predefined critical threshold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automatically triggers the 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Servo Motor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(simulating a valve) to move to the 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"open"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state</a:t>
                      </a:r>
                      <a:r>
                        <a:rPr lang="en-US" sz="90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Servo Motor moved smoothly and immediately to the full "open" position as soon as the critical threshold was met.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Result: </a:t>
                      </a:r>
                      <a:r>
                        <a:rPr lang="en-IN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2249">
                <a:tc>
                  <a:txBody>
                    <a:bodyPr/>
                    <a:lstStyle/>
                    <a:p>
                      <a:r>
                        <a:rPr lang="en-IN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Rainfall Prediction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Firebase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receives a new 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 pair from the ESP32.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Engine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processes the data and updates the 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9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Rainfall_Prediction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status in the database (e.g., "High Chance").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ML Engine executed the prediction model and updated the Firebase prediction status to "High Chance" within 5 seconds.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Result: </a:t>
                      </a:r>
                      <a:r>
                        <a:rPr lang="en-IN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2249">
                <a:tc>
                  <a:txBody>
                    <a:bodyPr/>
                    <a:lstStyle/>
                    <a:p>
                      <a:r>
                        <a:rPr lang="en-IN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 Public Safety Alert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 Camera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captures an image showing a 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or animal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the downstream river path.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computer vision module accurately detects the presence and sends a 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ALERT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the system.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CV model successfully identified the object and triggered an immediate "Human Detected" critical alert in the system.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Result: </a:t>
                      </a:r>
                      <a:r>
                        <a:rPr lang="en-IN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2249">
                <a:tc>
                  <a:txBody>
                    <a:bodyPr/>
                    <a:lstStyle/>
                    <a:p>
                      <a:r>
                        <a:rPr lang="en-IN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Alert System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Vibration Sensor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detects a 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anomaly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activates the 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Buzzer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sends a 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"CRITICAL" alert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the web dashboard.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 the local buzzer activated immediately, and the "Structural Anomaly Detected" alert appeared on the dashboard.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Result: </a:t>
                      </a:r>
                      <a:r>
                        <a:rPr lang="en-IN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285" name="Google Shape;285;p43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r>
              <a:rPr lang="en-US" dirty="0"/>
              <a:t>Proactive Prediction: Achieved &gt;85% accuracy in the ML model for local rainfall prediction, allowing for proactive water management and reducing dependency on external weather forecasts.</a:t>
            </a:r>
          </a:p>
          <a:p>
            <a:r>
              <a:rPr lang="en-US" dirty="0"/>
              <a:t>Automated Safety Interlock: Successfully implemented the Computer Vision layer to achieve &gt;90% accuracy in detecting humans/animals in the danger zone, preventing catastrophic water release accidents.</a:t>
            </a:r>
          </a:p>
          <a:p>
            <a:r>
              <a:rPr lang="en-US" dirty="0"/>
              <a:t>Real-Time Control: Demonstrated autonomous control of the dam gate (servo) based on real-time water level data, coupled with a full Alerting System (local buzzer and dashboard notification) for high water and structural anomalies.</a:t>
            </a:r>
          </a:p>
          <a:p>
            <a:r>
              <a:rPr lang="en-US" dirty="0"/>
              <a:t>Low-Latency Monitoring: Ensured an end-to-end data flow (sensor to dashboard) with performance better than the non-functional requirement of &lt;10 seconds, providing authorities with a real-time operational picture.</a:t>
            </a:r>
          </a:p>
          <a:p>
            <a:r>
              <a:rPr lang="en-US" dirty="0"/>
              <a:t>Unified Platform: Integrated </a:t>
            </a:r>
            <a:r>
              <a:rPr lang="en-US" dirty="0" err="1"/>
              <a:t>IoT</a:t>
            </a:r>
            <a:r>
              <a:rPr lang="en-US" dirty="0"/>
              <a:t>, Machine Learning, and Computer Vision into a single, low-cost platform using ESP32 and Firebase, offering scalability and enhancing public transparency.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92" name="Google Shape;292;p44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79400" algn="just">
              <a:spcBef>
                <a:spcPts val="0"/>
              </a:spcBef>
              <a:buSzPts val="2200"/>
            </a:pPr>
            <a:r>
              <a:rPr lang="en-US" sz="2400" dirty="0"/>
              <a:t>In this project, our experiments show that integrating </a:t>
            </a:r>
            <a:r>
              <a:rPr lang="en-US" sz="2400" dirty="0" err="1"/>
              <a:t>IoT</a:t>
            </a:r>
            <a:r>
              <a:rPr lang="en-US" sz="2400" dirty="0"/>
              <a:t> sensors, Machine Learning, and Computer Vision significantly improves the safety and efficiency of dam operations through real-time monitoring and predictive analytics.</a:t>
            </a:r>
          </a:p>
          <a:p>
            <a:pPr marL="342900" lvl="0" indent="-279400" algn="just">
              <a:spcBef>
                <a:spcPts val="0"/>
              </a:spcBef>
              <a:buSzPts val="2200"/>
            </a:pPr>
            <a:r>
              <a:rPr lang="en-US" sz="2400" dirty="0"/>
              <a:t>By combining rainfall prediction, autonomous gate control, and automated danger-zone detection, the system provides early warnings and reduces human dependency during critical situations.</a:t>
            </a:r>
          </a:p>
          <a:p>
            <a:pPr marL="342900" lvl="0" indent="-279400" algn="just">
              <a:spcBef>
                <a:spcPts val="0"/>
              </a:spcBef>
              <a:buSzPts val="2200"/>
            </a:pPr>
            <a:r>
              <a:rPr lang="en-US" sz="2400" dirty="0"/>
              <a:t>Thus, the proposed Smart Dam Monitoring System offers a unified, low-cost, and scalable solution that helps authorities make faster and more accurate decisions, ultimately preventing disasters and ensuring public safety.</a:t>
            </a:r>
            <a:endParaRPr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5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298" name="Google Shape;298;p45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r>
              <a:rPr lang="en-US" sz="2800" b="1" dirty="0"/>
              <a:t>Advanced AI Models for Flood Forecasting:</a:t>
            </a:r>
            <a:br>
              <a:rPr lang="en-US" sz="2800" dirty="0"/>
            </a:br>
            <a:r>
              <a:rPr lang="en-US" sz="2800" dirty="0"/>
              <a:t>Develop more sophisticated AI models by integrating upstream weather-station data, satellite imagery, and river-flow simulations to enable full-scale flood forecasting rather than only local rainfall prediction.</a:t>
            </a:r>
          </a:p>
          <a:p>
            <a:r>
              <a:rPr lang="en-US" sz="2800" b="1" dirty="0"/>
              <a:t>Integrating Water Quality Assessment:</a:t>
            </a:r>
            <a:br>
              <a:rPr lang="en-US" sz="2800" dirty="0"/>
            </a:br>
            <a:r>
              <a:rPr lang="en-US" sz="2800" dirty="0"/>
              <a:t>Expand the sensor suite to include water-quality parameters such as pH and turbidity, enabling comprehensive environmental assessment along with dam-safety monitoring.</a:t>
            </a:r>
          </a:p>
          <a:p>
            <a:r>
              <a:rPr lang="en-US" sz="2800" b="1" dirty="0"/>
              <a:t>Robust Computer Vision for Adverse Weather:</a:t>
            </a:r>
            <a:br>
              <a:rPr lang="en-US" sz="2800" dirty="0"/>
            </a:br>
            <a:r>
              <a:rPr lang="en-US" sz="2800" dirty="0"/>
              <a:t>Incorporate thermal cameras and train advanced object-detection models (e.g., YOLO) to maintain high detection accuracy in challenging conditions like fog, heavy rain, or nighttime, ensuring continuous and reliable public-safety monitoring.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304" name="Google Shape;304;p46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spcBef>
                <a:spcPts val="0"/>
              </a:spcBef>
            </a:pPr>
            <a:r>
              <a:rPr lang="en-IN" dirty="0">
                <a:hlinkClick r:id="rId3"/>
              </a:rPr>
              <a:t>https://www.researchgate.net/publication/388442841_Integrated_Smart_Dam_Control_System_Using_Machine_Learning</a:t>
            </a:r>
            <a:endParaRPr lang="en-IN" dirty="0"/>
          </a:p>
          <a:p>
            <a:pPr marL="0" lvl="0" indent="0">
              <a:spcBef>
                <a:spcPts val="0"/>
              </a:spcBef>
              <a:buNone/>
            </a:pPr>
            <a:r>
              <a:rPr lang="en-US" dirty="0" err="1"/>
              <a:t>IoT</a:t>
            </a:r>
            <a:r>
              <a:rPr lang="en-US" dirty="0"/>
              <a:t> for Dam Automation:</a:t>
            </a:r>
          </a:p>
          <a:p>
            <a:pPr marL="342900" lvl="0" indent="-342900">
              <a:spcBef>
                <a:spcPts val="0"/>
              </a:spcBef>
            </a:pPr>
            <a:r>
              <a:rPr lang="en-US" dirty="0"/>
              <a:t>IJERT: Dam Automation using </a:t>
            </a:r>
            <a:r>
              <a:rPr lang="en-US" dirty="0" err="1"/>
              <a:t>IoT</a:t>
            </a:r>
            <a:r>
              <a:rPr lang="en-US" dirty="0"/>
              <a:t> </a:t>
            </a:r>
          </a:p>
          <a:p>
            <a:pPr marL="342900" lvl="0" indent="-342900">
              <a:spcBef>
                <a:spcPts val="0"/>
              </a:spcBef>
            </a:pPr>
            <a:r>
              <a:rPr lang="en-US" dirty="0"/>
              <a:t>IEEE </a:t>
            </a:r>
            <a:r>
              <a:rPr lang="en-US" dirty="0" err="1"/>
              <a:t>Xplore</a:t>
            </a:r>
            <a:r>
              <a:rPr lang="en-US" dirty="0"/>
              <a:t>: Integrated Smart Dam Control System Using Machine Learning </a:t>
            </a:r>
          </a:p>
          <a:p>
            <a:pPr marL="342900" lvl="0" indent="-342900">
              <a:spcBef>
                <a:spcPts val="0"/>
              </a:spcBef>
            </a:pPr>
            <a:r>
              <a:rPr lang="en-US" dirty="0"/>
              <a:t>Reference Site Suggestion: A dedicated paper on </a:t>
            </a:r>
            <a:r>
              <a:rPr lang="en-US" dirty="0" err="1"/>
              <a:t>IoT</a:t>
            </a:r>
            <a:r>
              <a:rPr lang="en-US" dirty="0"/>
              <a:t>-based sensor data acquisition and real-time monitoring platforms for water management.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u="sng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7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Questions</a:t>
            </a:r>
            <a:endParaRPr/>
          </a:p>
        </p:txBody>
      </p:sp>
      <p:pic>
        <p:nvPicPr>
          <p:cNvPr id="310" name="Google Shape;310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2925" y="2292525"/>
            <a:ext cx="3753125" cy="248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3663</Words>
  <Application>Microsoft Office PowerPoint</Application>
  <PresentationFormat>On-screen Show (4:3)</PresentationFormat>
  <Paragraphs>358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Times New Roman</vt:lpstr>
      <vt:lpstr>Office Theme</vt:lpstr>
      <vt:lpstr>PowerPoint Presentation</vt:lpstr>
      <vt:lpstr>Agenda</vt:lpstr>
      <vt:lpstr>Introduction</vt:lpstr>
      <vt:lpstr>Statement of the Problem</vt:lpstr>
      <vt:lpstr>Scope of the project</vt:lpstr>
      <vt:lpstr>Scope of the project</vt:lpstr>
      <vt:lpstr>Scope of the project</vt:lpstr>
      <vt:lpstr>Methodology</vt:lpstr>
      <vt:lpstr>Methodology</vt:lpstr>
      <vt:lpstr>Architecture Diagram/Flow</vt:lpstr>
      <vt:lpstr>Design-Use Case Diagram</vt:lpstr>
      <vt:lpstr>Design-Use Case Diagram</vt:lpstr>
      <vt:lpstr>Design-Class Diagram</vt:lpstr>
      <vt:lpstr>Sequence Diagram</vt:lpstr>
      <vt:lpstr>Algorithms used</vt:lpstr>
      <vt:lpstr>Algorithms used</vt:lpstr>
      <vt:lpstr>Hardware and software selection </vt:lpstr>
      <vt:lpstr>Implementation</vt:lpstr>
      <vt:lpstr>Important Code segments</vt:lpstr>
      <vt:lpstr>Important Code segments</vt:lpstr>
      <vt:lpstr>Important Code segments</vt:lpstr>
      <vt:lpstr>Output</vt:lpstr>
      <vt:lpstr>Test Cases</vt:lpstr>
      <vt:lpstr>Results</vt:lpstr>
      <vt:lpstr>Conclusion</vt:lpstr>
      <vt:lpstr>Future Work</vt:lpstr>
      <vt:lpstr>References</vt:lpstr>
      <vt:lpstr>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naveen m</cp:lastModifiedBy>
  <cp:revision>20</cp:revision>
  <dcterms:modified xsi:type="dcterms:W3CDTF">2025-11-26T04:47:20Z</dcterms:modified>
</cp:coreProperties>
</file>